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Rehearsal helps a production planner test a recovery before changing the shift. The screenshot is from the verified public AWS application. All factory data is synthetic.</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10:00, M2 is unavailable until 14:00 while J7 still has a hard 16:00 deadline. The planner needs a defensible decision and a usable dispatch handoff.</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real AMD model turns a free-text note into typed, source-linked proposals. Validation and human review precede CPU planning. Conditional overtime is a proposed option, not prior approval.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saved live run proves keep-machines infeasibility for J7. Re-routing meets J7’s hard date while J2 finishes 190 minutes late. There is no overtime in this selected plan, and the independent checker passed.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J4 is on time nominally, but on time in 239 of 500 scenarios under declared synthetic assumptions. Sample 24 finishes at 18:01, 61 minutes late. These are not calibrated factory probabilities.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Approval reads the stored server plan, recalculates concessions and checks the schedule again. The CSV excerpt is from the saved public workflow. The JSON preserves trace and rehearsal evidence.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AMD inference is the model API workload. OR-Tools, the independent checker and NumPy replay run on CPU. This is one observed successful request, not a latency benchmark; a separate browser request needed a retry.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provisional label sets are shown. The same 23 team-written messages informed prompt tuning, so this is development evidence, not an independent benchmark. Recovery evaluation retains unchanged cases and tradeoffs.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intended user is a planner in a small make-to-order shop. The next validation step is a shadow pilot with real historical cases and measured decision quality/time. Adoption and ROI are unvalidated.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app, code and video links are clickable. The application is live with AMD configured and fallback disabled. The repository is public and includes setup, licenses, source and reproducible evidence. Demo video: https://youtu.be/XCLzMpVXXHU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bhishekSharma55/amd-act-3/blob/main/deploy/lightsail/verification/public_live.json" TargetMode="Externa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bhishekSharma55/amd-act-3/blob/main/deploy/lightsail/verification/public_live.json" TargetMode="Externa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bhishekSharma55/amd-act-3/blob/main/deploy/lightsail/verification/public_live.json" TargetMode="Externa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bhishekSharma55/amd-act-3/blob/main/deploy/lightsail/verification/public_live.json" TargetMode="Externa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bhishekSharma55/amd-act-3/blob/main/deploy/lightsail/verification/public_live.json" TargetMode="Externa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bhishekSharma55/amd-act-3/blob/main/docs/ARCHITECTURE.md" TargetMode="Externa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bhishekSharma55/amd-act-3/blob/main/docs/LIVE_AMD_QA.md" TargetMode="Externa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bhishekSharma55/amd-act-3/blob/main/README.md" TargetMode="Externa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rehearsal-act3.aa0brkr65f1ep.us-east-1.cs.amazonlightsail.com/" TargetMode="External"/><Relationship Id="rId3" Type="http://schemas.openxmlformats.org/officeDocument/2006/relationships/hyperlink" Target="https://github.com/AbhishekSharma55/amd-act-3" TargetMode="External"/><Relationship Id="rId4" Type="http://schemas.openxmlformats.org/officeDocument/2006/relationships/hyperlink" Target="https://youtu.be/XCLzMpVXXHU" TargetMode="External"/><Relationship Id="rId5"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7332C"/>
        </a:solidFill>
        <a:effectLst/>
      </p:bgPr>
    </p:bg>
    <p:spTree>
      <p:nvGrpSpPr>
        <p:cNvPr id="1" name=""/>
        <p:cNvGrpSpPr/>
        <p:nvPr/>
      </p:nvGrpSpPr>
      <p:grpSpPr/>
      <p:sp>
        <p:nvSpPr>
          <p:cNvPr id="2" name="Rectangle 1"/>
          <p:cNvSpPr/>
          <p:nvPr/>
        </p:nvSpPr>
        <p:spPr>
          <a:xfrm>
            <a:off x="482600" y="508000"/>
            <a:ext cx="50800" cy="152400"/>
          </a:xfrm>
          <a:prstGeom prst="rect">
            <a:avLst/>
          </a:prstGeom>
          <a:solidFill>
            <a:srgbClr val="D45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71500" y="406400"/>
            <a:ext cx="50800" cy="254000"/>
          </a:xfrm>
          <a:prstGeom prst="rect">
            <a:avLst/>
          </a:prstGeom>
          <a:solidFill>
            <a:srgbClr val="D45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60400" y="317500"/>
            <a:ext cx="50800" cy="342900"/>
          </a:xfrm>
          <a:prstGeom prst="rect">
            <a:avLst/>
          </a:prstGeom>
          <a:solidFill>
            <a:srgbClr val="D45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3600" y="368300"/>
            <a:ext cx="2286000" cy="216408"/>
          </a:xfrm>
          <a:prstGeom prst="rect">
            <a:avLst/>
          </a:prstGeom>
          <a:noFill/>
        </p:spPr>
        <p:txBody>
          <a:bodyPr wrap="none" lIns="0" rIns="0" tIns="0" bIns="0" anchor="t">
            <a:spAutoFit/>
          </a:bodyPr>
          <a:lstStyle/>
          <a:p>
            <a:pPr>
              <a:lnSpc>
                <a:spcPts val="1404"/>
              </a:lnSpc>
              <a:spcBef>
                <a:spcPts val="0"/>
              </a:spcBef>
              <a:spcAft>
                <a:spcPts val="0"/>
              </a:spcAft>
            </a:pPr>
            <a:r>
              <a:rPr sz="1200" b="1">
                <a:solidFill>
                  <a:srgbClr val="FFFFFF"/>
                </a:solidFill>
                <a:latin typeface="Arial"/>
              </a:rPr>
              <a:t>REHEARSAL</a:t>
            </a:r>
          </a:p>
        </p:txBody>
      </p:sp>
      <p:sp>
        <p:nvSpPr>
          <p:cNvPr id="6" name="TextBox 5"/>
          <p:cNvSpPr txBox="1"/>
          <p:nvPr/>
        </p:nvSpPr>
        <p:spPr>
          <a:xfrm>
            <a:off x="5334000" y="381000"/>
            <a:ext cx="6223000" cy="186690"/>
          </a:xfrm>
          <a:prstGeom prst="rect">
            <a:avLst/>
          </a:prstGeom>
          <a:noFill/>
        </p:spPr>
        <p:txBody>
          <a:bodyPr wrap="none" lIns="0" rIns="0" tIns="0" bIns="0" anchor="t">
            <a:spAutoFit/>
          </a:bodyPr>
          <a:lstStyle/>
          <a:p>
            <a:pPr>
              <a:lnSpc>
                <a:spcPts val="1170"/>
              </a:lnSpc>
              <a:spcBef>
                <a:spcPts val="0"/>
              </a:spcBef>
              <a:spcAft>
                <a:spcPts val="0"/>
              </a:spcAft>
            </a:pPr>
            <a:r>
              <a:rPr sz="1000" b="0">
                <a:solidFill>
                  <a:srgbClr val="CFD6C9"/>
                </a:solidFill>
                <a:latin typeface="Arial"/>
              </a:rPr>
              <a:t>INTELLIGENT INDUSTRY</a:t>
            </a:r>
          </a:p>
        </p:txBody>
      </p:sp>
      <p:sp>
        <p:nvSpPr>
          <p:cNvPr id="7" name="TextBox 6"/>
          <p:cNvSpPr txBox="1"/>
          <p:nvPr/>
        </p:nvSpPr>
        <p:spPr>
          <a:xfrm>
            <a:off x="482600" y="6515100"/>
            <a:ext cx="7620000" cy="156972"/>
          </a:xfrm>
          <a:prstGeom prst="rect">
            <a:avLst/>
          </a:prstGeom>
          <a:noFill/>
        </p:spPr>
        <p:txBody>
          <a:bodyPr wrap="none" lIns="0" rIns="0" tIns="0" bIns="0" anchor="t">
            <a:spAutoFit/>
          </a:bodyPr>
          <a:lstStyle/>
          <a:p>
            <a:pPr>
              <a:lnSpc>
                <a:spcPts val="936"/>
              </a:lnSpc>
              <a:spcBef>
                <a:spcPts val="0"/>
              </a:spcBef>
              <a:spcAft>
                <a:spcPts val="0"/>
              </a:spcAft>
            </a:pPr>
            <a:r>
              <a:rPr sz="800" b="0">
                <a:solidFill>
                  <a:srgbClr val="BFC8B9"/>
                </a:solidFill>
                <a:latin typeface="Arial"/>
              </a:rPr>
              <a:t>FORGE AHEAD / AMD DEVELOPER HACKATHON: ACT III</a:t>
            </a:r>
          </a:p>
        </p:txBody>
      </p:sp>
      <p:sp>
        <p:nvSpPr>
          <p:cNvPr id="8" name="TextBox 7"/>
          <p:cNvSpPr txBox="1"/>
          <p:nvPr/>
        </p:nvSpPr>
        <p:spPr>
          <a:xfrm>
            <a:off x="11353800" y="6489700"/>
            <a:ext cx="381000" cy="186690"/>
          </a:xfrm>
          <a:prstGeom prst="rect">
            <a:avLst/>
          </a:prstGeom>
          <a:noFill/>
        </p:spPr>
        <p:txBody>
          <a:bodyPr wrap="none" lIns="0" rIns="0" tIns="0" bIns="0" anchor="t">
            <a:spAutoFit/>
          </a:bodyPr>
          <a:lstStyle/>
          <a:p>
            <a:pPr>
              <a:lnSpc>
                <a:spcPts val="1170"/>
              </a:lnSpc>
              <a:spcBef>
                <a:spcPts val="0"/>
              </a:spcBef>
              <a:spcAft>
                <a:spcPts val="0"/>
              </a:spcAft>
            </a:pPr>
            <a:r>
              <a:rPr sz="1000" b="0">
                <a:solidFill>
                  <a:srgbClr val="BFC8B9"/>
                </a:solidFill>
                <a:latin typeface="Arial"/>
              </a:rPr>
              <a:t>01</a:t>
            </a:r>
          </a:p>
        </p:txBody>
      </p:sp>
      <p:sp>
        <p:nvSpPr>
          <p:cNvPr id="9" name="TextBox 8"/>
          <p:cNvSpPr txBox="1"/>
          <p:nvPr/>
        </p:nvSpPr>
        <p:spPr>
          <a:xfrm>
            <a:off x="482600" y="1358900"/>
            <a:ext cx="4953000" cy="899922"/>
          </a:xfrm>
          <a:prstGeom prst="rect">
            <a:avLst/>
          </a:prstGeom>
          <a:noFill/>
        </p:spPr>
        <p:txBody>
          <a:bodyPr wrap="none" lIns="0" rIns="0" tIns="0" bIns="0" anchor="t">
            <a:spAutoFit/>
          </a:bodyPr>
          <a:lstStyle/>
          <a:p>
            <a:pPr>
              <a:lnSpc>
                <a:spcPts val="6786"/>
              </a:lnSpc>
              <a:spcBef>
                <a:spcPts val="0"/>
              </a:spcBef>
              <a:spcAft>
                <a:spcPts val="0"/>
              </a:spcAft>
            </a:pPr>
            <a:r>
              <a:rPr sz="5800" b="1">
                <a:solidFill>
                  <a:srgbClr val="FFFFFF"/>
                </a:solidFill>
                <a:latin typeface="Arial"/>
              </a:rPr>
              <a:t>Rehearsal.</a:t>
            </a:r>
          </a:p>
        </p:txBody>
      </p:sp>
      <p:sp>
        <p:nvSpPr>
          <p:cNvPr id="10" name="TextBox 9"/>
          <p:cNvSpPr txBox="1"/>
          <p:nvPr/>
        </p:nvSpPr>
        <p:spPr>
          <a:xfrm>
            <a:off x="508000" y="2501900"/>
            <a:ext cx="4635500" cy="1409700"/>
          </a:xfrm>
          <a:prstGeom prst="rect">
            <a:avLst/>
          </a:prstGeom>
          <a:noFill/>
        </p:spPr>
        <p:txBody>
          <a:bodyPr wrap="none" lIns="0" rIns="0" tIns="0" bIns="0" anchor="t">
            <a:spAutoFit/>
          </a:bodyPr>
          <a:lstStyle/>
          <a:p>
            <a:pPr>
              <a:lnSpc>
                <a:spcPts val="3600"/>
              </a:lnSpc>
              <a:spcBef>
                <a:spcPts val="0"/>
              </a:spcBef>
              <a:spcAft>
                <a:spcPts val="0"/>
              </a:spcAft>
            </a:pPr>
            <a:r>
              <a:rPr sz="3100" b="1">
                <a:solidFill>
                  <a:srgbClr val="FFFFFF"/>
                </a:solidFill>
                <a:latin typeface="Arial"/>
              </a:rPr>
              <a:t>Test the recovery</a:t>
            </a:r>
          </a:p>
          <a:p>
            <a:pPr>
              <a:lnSpc>
                <a:spcPts val="3600"/>
              </a:lnSpc>
              <a:spcBef>
                <a:spcPts val="0"/>
              </a:spcBef>
              <a:spcAft>
                <a:spcPts val="0"/>
              </a:spcAft>
            </a:pPr>
            <a:r>
              <a:rPr sz="3100" b="1">
                <a:solidFill>
                  <a:srgbClr val="FFFFFF"/>
                </a:solidFill>
                <a:latin typeface="Arial"/>
              </a:rPr>
              <a:t>before changing</a:t>
            </a:r>
          </a:p>
          <a:p>
            <a:pPr>
              <a:lnSpc>
                <a:spcPts val="3600"/>
              </a:lnSpc>
              <a:spcBef>
                <a:spcPts val="0"/>
              </a:spcBef>
              <a:spcAft>
                <a:spcPts val="0"/>
              </a:spcAft>
            </a:pPr>
            <a:r>
              <a:rPr sz="3100" b="1">
                <a:solidFill>
                  <a:srgbClr val="FFFFFF"/>
                </a:solidFill>
                <a:latin typeface="Arial"/>
              </a:rPr>
              <a:t>the shift.</a:t>
            </a:r>
          </a:p>
        </p:txBody>
      </p:sp>
      <p:sp>
        <p:nvSpPr>
          <p:cNvPr id="11" name="TextBox 10"/>
          <p:cNvSpPr txBox="1"/>
          <p:nvPr/>
        </p:nvSpPr>
        <p:spPr>
          <a:xfrm>
            <a:off x="508000" y="4279900"/>
            <a:ext cx="4445000" cy="602741"/>
          </a:xfrm>
          <a:prstGeom prst="rect">
            <a:avLst/>
          </a:prstGeom>
          <a:noFill/>
        </p:spPr>
        <p:txBody>
          <a:bodyPr wrap="none" lIns="0" rIns="0" tIns="0" bIns="0" anchor="t">
            <a:spAutoFit/>
          </a:bodyPr>
          <a:lstStyle/>
          <a:p>
            <a:pPr>
              <a:lnSpc>
                <a:spcPts val="2222"/>
              </a:lnSpc>
              <a:spcBef>
                <a:spcPts val="0"/>
              </a:spcBef>
              <a:spcAft>
                <a:spcPts val="0"/>
              </a:spcAft>
            </a:pPr>
            <a:r>
              <a:rPr sz="1900" b="0">
                <a:solidFill>
                  <a:srgbClr val="CFD6C9"/>
                </a:solidFill>
                <a:latin typeface="Arial"/>
              </a:rPr>
              <a:t>Checked recovery decisions</a:t>
            </a:r>
          </a:p>
          <a:p>
            <a:pPr>
              <a:lnSpc>
                <a:spcPts val="2222"/>
              </a:lnSpc>
              <a:spcBef>
                <a:spcPts val="0"/>
              </a:spcBef>
              <a:spcAft>
                <a:spcPts val="0"/>
              </a:spcAft>
            </a:pPr>
            <a:r>
              <a:rPr sz="1900" b="0">
                <a:solidFill>
                  <a:srgbClr val="CFD6C9"/>
                </a:solidFill>
                <a:latin typeface="Arial"/>
              </a:rPr>
              <a:t>for production planners.</a:t>
            </a:r>
          </a:p>
        </p:txBody>
      </p:sp>
      <p:sp>
        <p:nvSpPr>
          <p:cNvPr id="12" name="TextBox 11"/>
          <p:cNvSpPr txBox="1"/>
          <p:nvPr/>
        </p:nvSpPr>
        <p:spPr>
          <a:xfrm>
            <a:off x="508000" y="5461000"/>
            <a:ext cx="5588000" cy="231267"/>
          </a:xfrm>
          <a:prstGeom prst="rect">
            <a:avLst/>
          </a:prstGeom>
          <a:noFill/>
        </p:spPr>
        <p:txBody>
          <a:bodyPr wrap="none" lIns="0" rIns="0" tIns="0" bIns="0" anchor="t">
            <a:spAutoFit/>
          </a:bodyPr>
          <a:lstStyle/>
          <a:p>
            <a:pPr>
              <a:lnSpc>
                <a:spcPts val="1521"/>
              </a:lnSpc>
              <a:spcBef>
                <a:spcPts val="0"/>
              </a:spcBef>
              <a:spcAft>
                <a:spcPts val="0"/>
              </a:spcAft>
            </a:pPr>
            <a:r>
              <a:rPr sz="1300" b="0">
                <a:solidFill>
                  <a:srgbClr val="CFD6C9"/>
                </a:solidFill>
                <a:latin typeface="Arial"/>
              </a:rPr>
              <a:t>Abhishek Sharma + Muskan Verma</a:t>
            </a:r>
          </a:p>
        </p:txBody>
      </p:sp>
      <p:sp>
        <p:nvSpPr>
          <p:cNvPr id="13" name="Rounded Rectangle 12"/>
          <p:cNvSpPr/>
          <p:nvPr/>
        </p:nvSpPr>
        <p:spPr>
          <a:xfrm>
            <a:off x="5562600" y="1320800"/>
            <a:ext cx="6146800" cy="44831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desktop.png"/>
          <p:cNvPicPr>
            <a:picLocks noChangeAspect="1"/>
          </p:cNvPicPr>
          <p:nvPr/>
        </p:nvPicPr>
        <p:blipFill>
          <a:blip r:embed="rId2"/>
          <a:stretch>
            <a:fillRect/>
          </a:stretch>
        </p:blipFill>
        <p:spPr>
          <a:xfrm>
            <a:off x="5664200" y="1454150"/>
            <a:ext cx="5943600" cy="4127500"/>
          </a:xfrm>
          <a:prstGeom prst="rect">
            <a:avLst/>
          </a:prstGeom>
        </p:spPr>
      </p:pic>
      <p:sp>
        <p:nvSpPr>
          <p:cNvPr id="15" name="TextBox 14"/>
          <p:cNvSpPr txBox="1"/>
          <p:nvPr/>
        </p:nvSpPr>
        <p:spPr>
          <a:xfrm>
            <a:off x="5689600" y="5867400"/>
            <a:ext cx="5969000" cy="201548"/>
          </a:xfrm>
          <a:prstGeom prst="rect">
            <a:avLst/>
          </a:prstGeom>
          <a:noFill/>
        </p:spPr>
        <p:txBody>
          <a:bodyPr wrap="none" lIns="0" rIns="0" tIns="0" bIns="0" anchor="t">
            <a:spAutoFit/>
          </a:bodyPr>
          <a:lstStyle/>
          <a:p>
            <a:pPr>
              <a:lnSpc>
                <a:spcPts val="1287"/>
              </a:lnSpc>
              <a:spcBef>
                <a:spcPts val="0"/>
              </a:spcBef>
              <a:spcAft>
                <a:spcPts val="0"/>
              </a:spcAft>
            </a:pPr>
            <a:r>
              <a:rPr sz="1100" b="0">
                <a:solidFill>
                  <a:srgbClr val="CFD6C9"/>
                </a:solidFill>
                <a:latin typeface="Arial"/>
              </a:rPr>
              <a:t>Working AWS app • Real AMD extraction • Synthetic demo data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6EF"/>
        </a:solidFill>
        <a:effectLst/>
      </p:bgPr>
    </p:bg>
    <p:spTree>
      <p:nvGrpSpPr>
        <p:cNvPr id="1" name=""/>
        <p:cNvGrpSpPr/>
        <p:nvPr/>
      </p:nvGrpSpPr>
      <p:grpSpPr/>
      <p:sp>
        <p:nvSpPr>
          <p:cNvPr id="2" name="Rectangle 1"/>
          <p:cNvSpPr/>
          <p:nvPr/>
        </p:nvSpPr>
        <p:spPr>
          <a:xfrm>
            <a:off x="482600" y="508000"/>
            <a:ext cx="50800" cy="152400"/>
          </a:xfrm>
          <a:prstGeom prst="rect">
            <a:avLst/>
          </a:prstGeom>
          <a:solidFill>
            <a:srgbClr val="D45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71500" y="406400"/>
            <a:ext cx="50800" cy="254000"/>
          </a:xfrm>
          <a:prstGeom prst="rect">
            <a:avLst/>
          </a:prstGeom>
          <a:solidFill>
            <a:srgbClr val="D45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60400" y="317500"/>
            <a:ext cx="50800" cy="342900"/>
          </a:xfrm>
          <a:prstGeom prst="rect">
            <a:avLst/>
          </a:prstGeom>
          <a:solidFill>
            <a:srgbClr val="D45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3600" y="368300"/>
            <a:ext cx="2286000" cy="216408"/>
          </a:xfrm>
          <a:prstGeom prst="rect">
            <a:avLst/>
          </a:prstGeom>
          <a:noFill/>
        </p:spPr>
        <p:txBody>
          <a:bodyPr wrap="none" lIns="0" rIns="0" tIns="0" bIns="0" anchor="t">
            <a:spAutoFit/>
          </a:bodyPr>
          <a:lstStyle/>
          <a:p>
            <a:pPr>
              <a:lnSpc>
                <a:spcPts val="1404"/>
              </a:lnSpc>
              <a:spcBef>
                <a:spcPts val="0"/>
              </a:spcBef>
              <a:spcAft>
                <a:spcPts val="0"/>
              </a:spcAft>
            </a:pPr>
            <a:r>
              <a:rPr sz="1200" b="1">
                <a:solidFill>
                  <a:srgbClr val="27332C"/>
                </a:solidFill>
                <a:latin typeface="Arial"/>
              </a:rPr>
              <a:t>REHEARSAL</a:t>
            </a:r>
          </a:p>
        </p:txBody>
      </p:sp>
      <p:sp>
        <p:nvSpPr>
          <p:cNvPr id="6" name="TextBox 5"/>
          <p:cNvSpPr txBox="1"/>
          <p:nvPr/>
        </p:nvSpPr>
        <p:spPr>
          <a:xfrm>
            <a:off x="5334000" y="381000"/>
            <a:ext cx="6223000" cy="186690"/>
          </a:xfrm>
          <a:prstGeom prst="rect">
            <a:avLst/>
          </a:prstGeom>
          <a:noFill/>
        </p:spPr>
        <p:txBody>
          <a:bodyPr wrap="none" lIns="0" rIns="0" tIns="0" bIns="0" anchor="t">
            <a:spAutoFit/>
          </a:bodyPr>
          <a:lstStyle/>
          <a:p>
            <a:pPr>
              <a:lnSpc>
                <a:spcPts val="1170"/>
              </a:lnSpc>
              <a:spcBef>
                <a:spcPts val="0"/>
              </a:spcBef>
              <a:spcAft>
                <a:spcPts val="0"/>
              </a:spcAft>
            </a:pPr>
            <a:r>
              <a:rPr sz="1000" b="0">
                <a:solidFill>
                  <a:srgbClr val="647064"/>
                </a:solidFill>
                <a:latin typeface="Arial"/>
              </a:rPr>
              <a:t>THE DECISION</a:t>
            </a:r>
          </a:p>
        </p:txBody>
      </p:sp>
      <p:sp>
        <p:nvSpPr>
          <p:cNvPr id="7" name="TextBox 6"/>
          <p:cNvSpPr txBox="1"/>
          <p:nvPr/>
        </p:nvSpPr>
        <p:spPr>
          <a:xfrm>
            <a:off x="482600" y="6515100"/>
            <a:ext cx="7620000" cy="156972"/>
          </a:xfrm>
          <a:prstGeom prst="rect">
            <a:avLst/>
          </a:prstGeom>
          <a:noFill/>
        </p:spPr>
        <p:txBody>
          <a:bodyPr wrap="none" lIns="0" rIns="0" tIns="0" bIns="0" anchor="t">
            <a:spAutoFit/>
          </a:bodyPr>
          <a:lstStyle/>
          <a:p>
            <a:pPr>
              <a:lnSpc>
                <a:spcPts val="936"/>
              </a:lnSpc>
              <a:spcBef>
                <a:spcPts val="0"/>
              </a:spcBef>
              <a:spcAft>
                <a:spcPts val="0"/>
              </a:spcAft>
            </a:pPr>
            <a:r>
              <a:rPr sz="800" b="0">
                <a:solidFill>
                  <a:srgbClr val="647064"/>
                </a:solidFill>
                <a:latin typeface="Arial"/>
              </a:rPr>
              <a:t>FORGE AHEAD / AMD DEVELOPER HACKATHON: ACT III</a:t>
            </a:r>
          </a:p>
        </p:txBody>
      </p:sp>
      <p:sp>
        <p:nvSpPr>
          <p:cNvPr id="8" name="TextBox 7"/>
          <p:cNvSpPr txBox="1"/>
          <p:nvPr/>
        </p:nvSpPr>
        <p:spPr>
          <a:xfrm>
            <a:off x="11353800" y="6489700"/>
            <a:ext cx="381000" cy="186690"/>
          </a:xfrm>
          <a:prstGeom prst="rect">
            <a:avLst/>
          </a:prstGeom>
          <a:noFill/>
        </p:spPr>
        <p:txBody>
          <a:bodyPr wrap="none" lIns="0" rIns="0" tIns="0" bIns="0" anchor="t">
            <a:spAutoFit/>
          </a:bodyPr>
          <a:lstStyle/>
          <a:p>
            <a:pPr>
              <a:lnSpc>
                <a:spcPts val="1170"/>
              </a:lnSpc>
              <a:spcBef>
                <a:spcPts val="0"/>
              </a:spcBef>
              <a:spcAft>
                <a:spcPts val="0"/>
              </a:spcAft>
            </a:pPr>
            <a:r>
              <a:rPr sz="1000" b="0">
                <a:solidFill>
                  <a:srgbClr val="647064"/>
                </a:solidFill>
                <a:latin typeface="Arial"/>
              </a:rPr>
              <a:t>02</a:t>
            </a:r>
          </a:p>
        </p:txBody>
      </p:sp>
      <p:sp>
        <p:nvSpPr>
          <p:cNvPr id="9" name="TextBox 8"/>
          <p:cNvSpPr txBox="1"/>
          <p:nvPr/>
        </p:nvSpPr>
        <p:spPr>
          <a:xfrm>
            <a:off x="482600" y="6223000"/>
            <a:ext cx="10160000" cy="156972"/>
          </a:xfrm>
          <a:prstGeom prst="rect">
            <a:avLst/>
          </a:prstGeom>
          <a:noFill/>
        </p:spPr>
        <p:txBody>
          <a:bodyPr wrap="none" lIns="0" rIns="0" tIns="0" bIns="0" anchor="t">
            <a:spAutoFit/>
          </a:bodyPr>
          <a:lstStyle/>
          <a:p>
            <a:pPr>
              <a:lnSpc>
                <a:spcPts val="936"/>
              </a:lnSpc>
              <a:spcBef>
                <a:spcPts val="0"/>
              </a:spcBef>
              <a:spcAft>
                <a:spcPts val="0"/>
              </a:spcAft>
            </a:pPr>
            <a:r>
              <a:rPr sz="800" b="0">
                <a:solidFill>
                  <a:srgbClr val="647064"/>
                </a:solidFill>
                <a:latin typeface="Arial"/>
                <a:hlinkClick r:id="rId2"/>
              </a:rPr>
              <a:t>Evidence / source</a:t>
            </a:r>
          </a:p>
        </p:txBody>
      </p:sp>
      <p:sp>
        <p:nvSpPr>
          <p:cNvPr id="10" name="TextBox 9"/>
          <p:cNvSpPr txBox="1"/>
          <p:nvPr/>
        </p:nvSpPr>
        <p:spPr>
          <a:xfrm>
            <a:off x="482600" y="1054100"/>
            <a:ext cx="11226800" cy="1054100"/>
          </a:xfrm>
          <a:prstGeom prst="rect">
            <a:avLst/>
          </a:prstGeom>
          <a:noFill/>
        </p:spPr>
        <p:txBody>
          <a:bodyPr wrap="none" lIns="0" rIns="0" tIns="0" bIns="0" anchor="t">
            <a:spAutoFit/>
          </a:bodyPr>
          <a:lstStyle/>
          <a:p>
            <a:pPr>
              <a:lnSpc>
                <a:spcPts val="4000"/>
              </a:lnSpc>
              <a:spcBef>
                <a:spcPts val="0"/>
              </a:spcBef>
              <a:spcAft>
                <a:spcPts val="0"/>
              </a:spcAft>
            </a:pPr>
            <a:r>
              <a:rPr sz="3700" b="1">
                <a:solidFill>
                  <a:srgbClr val="27332C"/>
                </a:solidFill>
                <a:latin typeface="Arial"/>
              </a:rPr>
              <a:t>One breakdown.</a:t>
            </a:r>
          </a:p>
          <a:p>
            <a:pPr>
              <a:lnSpc>
                <a:spcPts val="4000"/>
              </a:lnSpc>
              <a:spcBef>
                <a:spcPts val="0"/>
              </a:spcBef>
              <a:spcAft>
                <a:spcPts val="0"/>
              </a:spcAft>
            </a:pPr>
            <a:r>
              <a:rPr sz="3700" b="1">
                <a:solidFill>
                  <a:srgbClr val="27332C"/>
                </a:solidFill>
                <a:latin typeface="Arial"/>
              </a:rPr>
              <a:t>Seven delivery promises.</a:t>
            </a:r>
          </a:p>
        </p:txBody>
      </p:sp>
      <p:sp>
        <p:nvSpPr>
          <p:cNvPr id="11" name="TextBox 10"/>
          <p:cNvSpPr txBox="1"/>
          <p:nvPr/>
        </p:nvSpPr>
        <p:spPr>
          <a:xfrm>
            <a:off x="508000" y="2197100"/>
            <a:ext cx="11049000" cy="260985"/>
          </a:xfrm>
          <a:prstGeom prst="rect">
            <a:avLst/>
          </a:prstGeom>
          <a:noFill/>
        </p:spPr>
        <p:txBody>
          <a:bodyPr wrap="none" lIns="0" rIns="0" tIns="0" bIns="0" anchor="t">
            <a:spAutoFit/>
          </a:bodyPr>
          <a:lstStyle/>
          <a:p>
            <a:pPr>
              <a:lnSpc>
                <a:spcPts val="1754"/>
              </a:lnSpc>
              <a:spcBef>
                <a:spcPts val="0"/>
              </a:spcBef>
              <a:spcAft>
                <a:spcPts val="0"/>
              </a:spcAft>
            </a:pPr>
            <a:r>
              <a:rPr sz="1500" b="0">
                <a:solidFill>
                  <a:srgbClr val="647064"/>
                </a:solidFill>
                <a:latin typeface="Arial"/>
              </a:rPr>
              <a:t>The production planner has to decide what to move, what runs late, and what to approve.</a:t>
            </a:r>
          </a:p>
        </p:txBody>
      </p:sp>
      <p:sp>
        <p:nvSpPr>
          <p:cNvPr id="12" name="Rounded Rectangle 11"/>
          <p:cNvSpPr/>
          <p:nvPr/>
        </p:nvSpPr>
        <p:spPr>
          <a:xfrm>
            <a:off x="482600" y="2971800"/>
            <a:ext cx="3581400" cy="2489200"/>
          </a:xfrm>
          <a:prstGeom prst="roundRect">
            <a:avLst/>
          </a:prstGeom>
          <a:solidFill>
            <a:srgbClr val="E8EC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6600" y="3213100"/>
            <a:ext cx="3124200" cy="543306"/>
          </a:xfrm>
          <a:prstGeom prst="rect">
            <a:avLst/>
          </a:prstGeom>
          <a:noFill/>
        </p:spPr>
        <p:txBody>
          <a:bodyPr wrap="none" lIns="0" rIns="0" tIns="0" bIns="0" anchor="t">
            <a:spAutoFit/>
          </a:bodyPr>
          <a:lstStyle/>
          <a:p>
            <a:pPr>
              <a:lnSpc>
                <a:spcPts val="3978"/>
              </a:lnSpc>
              <a:spcBef>
                <a:spcPts val="0"/>
              </a:spcBef>
              <a:spcAft>
                <a:spcPts val="0"/>
              </a:spcAft>
            </a:pPr>
            <a:r>
              <a:rPr sz="3400" b="1">
                <a:solidFill>
                  <a:srgbClr val="D4532B"/>
                </a:solidFill>
                <a:latin typeface="Arial"/>
              </a:rPr>
              <a:t>10:00</a:t>
            </a:r>
          </a:p>
        </p:txBody>
      </p:sp>
      <p:sp>
        <p:nvSpPr>
          <p:cNvPr id="14" name="TextBox 13"/>
          <p:cNvSpPr txBox="1"/>
          <p:nvPr/>
        </p:nvSpPr>
        <p:spPr>
          <a:xfrm>
            <a:off x="736600" y="3924300"/>
            <a:ext cx="3111500" cy="320420"/>
          </a:xfrm>
          <a:prstGeom prst="rect">
            <a:avLst/>
          </a:prstGeom>
          <a:noFill/>
        </p:spPr>
        <p:txBody>
          <a:bodyPr wrap="none" lIns="0" rIns="0" tIns="0" bIns="0" anchor="t">
            <a:spAutoFit/>
          </a:bodyPr>
          <a:lstStyle/>
          <a:p>
            <a:pPr>
              <a:lnSpc>
                <a:spcPts val="2222"/>
              </a:lnSpc>
              <a:spcBef>
                <a:spcPts val="0"/>
              </a:spcBef>
              <a:spcAft>
                <a:spcPts val="0"/>
              </a:spcAft>
            </a:pPr>
            <a:r>
              <a:rPr sz="1900" b="1">
                <a:solidFill>
                  <a:srgbClr val="27332C"/>
                </a:solidFill>
                <a:latin typeface="Arial"/>
              </a:rPr>
              <a:t>M2 stops</a:t>
            </a:r>
          </a:p>
        </p:txBody>
      </p:sp>
      <p:sp>
        <p:nvSpPr>
          <p:cNvPr id="15" name="TextBox 14"/>
          <p:cNvSpPr txBox="1"/>
          <p:nvPr/>
        </p:nvSpPr>
        <p:spPr>
          <a:xfrm>
            <a:off x="736600" y="4483100"/>
            <a:ext cx="3048000" cy="275844"/>
          </a:xfrm>
          <a:prstGeom prst="rect">
            <a:avLst/>
          </a:prstGeom>
          <a:noFill/>
        </p:spPr>
        <p:txBody>
          <a:bodyPr wrap="none" lIns="0" rIns="0" tIns="0" bIns="0" anchor="t">
            <a:spAutoFit/>
          </a:bodyPr>
          <a:lstStyle/>
          <a:p>
            <a:pPr>
              <a:lnSpc>
                <a:spcPts val="1872"/>
              </a:lnSpc>
              <a:spcBef>
                <a:spcPts val="0"/>
              </a:spcBef>
              <a:spcAft>
                <a:spcPts val="0"/>
              </a:spcAft>
            </a:pPr>
            <a:r>
              <a:rPr sz="1600" b="0">
                <a:solidFill>
                  <a:srgbClr val="647064"/>
                </a:solidFill>
                <a:latin typeface="Arial"/>
              </a:rPr>
              <a:t>Work is already in progress.</a:t>
            </a:r>
          </a:p>
        </p:txBody>
      </p:sp>
      <p:sp>
        <p:nvSpPr>
          <p:cNvPr id="16" name="Rounded Rectangle 15"/>
          <p:cNvSpPr/>
          <p:nvPr/>
        </p:nvSpPr>
        <p:spPr>
          <a:xfrm>
            <a:off x="4305300" y="2971800"/>
            <a:ext cx="3581400" cy="2489200"/>
          </a:xfrm>
          <a:prstGeom prst="roundRect">
            <a:avLst/>
          </a:prstGeom>
          <a:solidFill>
            <a:srgbClr val="E8EC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59300" y="3213100"/>
            <a:ext cx="3124200" cy="543306"/>
          </a:xfrm>
          <a:prstGeom prst="rect">
            <a:avLst/>
          </a:prstGeom>
          <a:noFill/>
        </p:spPr>
        <p:txBody>
          <a:bodyPr wrap="none" lIns="0" rIns="0" tIns="0" bIns="0" anchor="t">
            <a:spAutoFit/>
          </a:bodyPr>
          <a:lstStyle/>
          <a:p>
            <a:pPr>
              <a:lnSpc>
                <a:spcPts val="3978"/>
              </a:lnSpc>
              <a:spcBef>
                <a:spcPts val="0"/>
              </a:spcBef>
              <a:spcAft>
                <a:spcPts val="0"/>
              </a:spcAft>
            </a:pPr>
            <a:r>
              <a:rPr sz="3400" b="1">
                <a:solidFill>
                  <a:srgbClr val="D4532B"/>
                </a:solidFill>
                <a:latin typeface="Arial"/>
              </a:rPr>
              <a:t>16:00</a:t>
            </a:r>
          </a:p>
        </p:txBody>
      </p:sp>
      <p:sp>
        <p:nvSpPr>
          <p:cNvPr id="18" name="TextBox 17"/>
          <p:cNvSpPr txBox="1"/>
          <p:nvPr/>
        </p:nvSpPr>
        <p:spPr>
          <a:xfrm>
            <a:off x="4559300" y="3924300"/>
            <a:ext cx="3111500" cy="320420"/>
          </a:xfrm>
          <a:prstGeom prst="rect">
            <a:avLst/>
          </a:prstGeom>
          <a:noFill/>
        </p:spPr>
        <p:txBody>
          <a:bodyPr wrap="none" lIns="0" rIns="0" tIns="0" bIns="0" anchor="t">
            <a:spAutoFit/>
          </a:bodyPr>
          <a:lstStyle/>
          <a:p>
            <a:pPr>
              <a:lnSpc>
                <a:spcPts val="2222"/>
              </a:lnSpc>
              <a:spcBef>
                <a:spcPts val="0"/>
              </a:spcBef>
              <a:spcAft>
                <a:spcPts val="0"/>
              </a:spcAft>
            </a:pPr>
            <a:r>
              <a:rPr sz="1900" b="1">
                <a:solidFill>
                  <a:srgbClr val="27332C"/>
                </a:solidFill>
                <a:latin typeface="Arial"/>
              </a:rPr>
              <a:t>J7 must ship</a:t>
            </a:r>
          </a:p>
        </p:txBody>
      </p:sp>
      <p:sp>
        <p:nvSpPr>
          <p:cNvPr id="19" name="TextBox 18"/>
          <p:cNvSpPr txBox="1"/>
          <p:nvPr/>
        </p:nvSpPr>
        <p:spPr>
          <a:xfrm>
            <a:off x="4559300" y="4483100"/>
            <a:ext cx="3048000" cy="275844"/>
          </a:xfrm>
          <a:prstGeom prst="rect">
            <a:avLst/>
          </a:prstGeom>
          <a:noFill/>
        </p:spPr>
        <p:txBody>
          <a:bodyPr wrap="none" lIns="0" rIns="0" tIns="0" bIns="0" anchor="t">
            <a:spAutoFit/>
          </a:bodyPr>
          <a:lstStyle/>
          <a:p>
            <a:pPr>
              <a:lnSpc>
                <a:spcPts val="1872"/>
              </a:lnSpc>
              <a:spcBef>
                <a:spcPts val="0"/>
              </a:spcBef>
              <a:spcAft>
                <a:spcPts val="0"/>
              </a:spcAft>
            </a:pPr>
            <a:r>
              <a:rPr sz="1600" b="0">
                <a:solidFill>
                  <a:srgbClr val="647064"/>
                </a:solidFill>
                <a:latin typeface="Arial"/>
              </a:rPr>
              <a:t>Its hard deadline must hold.</a:t>
            </a:r>
          </a:p>
        </p:txBody>
      </p:sp>
      <p:sp>
        <p:nvSpPr>
          <p:cNvPr id="20" name="Rounded Rectangle 19"/>
          <p:cNvSpPr/>
          <p:nvPr/>
        </p:nvSpPr>
        <p:spPr>
          <a:xfrm>
            <a:off x="8128000" y="2971800"/>
            <a:ext cx="3581400" cy="2489200"/>
          </a:xfrm>
          <a:prstGeom prst="roundRect">
            <a:avLst/>
          </a:prstGeom>
          <a:solidFill>
            <a:srgbClr val="E8EC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81999" y="3213100"/>
            <a:ext cx="3124200" cy="543306"/>
          </a:xfrm>
          <a:prstGeom prst="rect">
            <a:avLst/>
          </a:prstGeom>
          <a:noFill/>
        </p:spPr>
        <p:txBody>
          <a:bodyPr wrap="none" lIns="0" rIns="0" tIns="0" bIns="0" anchor="t">
            <a:spAutoFit/>
          </a:bodyPr>
          <a:lstStyle/>
          <a:p>
            <a:pPr>
              <a:lnSpc>
                <a:spcPts val="3978"/>
              </a:lnSpc>
              <a:spcBef>
                <a:spcPts val="0"/>
              </a:spcBef>
              <a:spcAft>
                <a:spcPts val="0"/>
              </a:spcAft>
            </a:pPr>
            <a:r>
              <a:rPr sz="3400" b="1">
                <a:solidFill>
                  <a:srgbClr val="D4532B"/>
                </a:solidFill>
                <a:latin typeface="Arial"/>
              </a:rPr>
              <a:t>A decision</a:t>
            </a:r>
          </a:p>
        </p:txBody>
      </p:sp>
      <p:sp>
        <p:nvSpPr>
          <p:cNvPr id="22" name="TextBox 21"/>
          <p:cNvSpPr txBox="1"/>
          <p:nvPr/>
        </p:nvSpPr>
        <p:spPr>
          <a:xfrm>
            <a:off x="8381999" y="3924300"/>
            <a:ext cx="3111500" cy="320420"/>
          </a:xfrm>
          <a:prstGeom prst="rect">
            <a:avLst/>
          </a:prstGeom>
          <a:noFill/>
        </p:spPr>
        <p:txBody>
          <a:bodyPr wrap="none" lIns="0" rIns="0" tIns="0" bIns="0" anchor="t">
            <a:spAutoFit/>
          </a:bodyPr>
          <a:lstStyle/>
          <a:p>
            <a:pPr>
              <a:lnSpc>
                <a:spcPts val="2222"/>
              </a:lnSpc>
              <a:spcBef>
                <a:spcPts val="0"/>
              </a:spcBef>
              <a:spcAft>
                <a:spcPts val="0"/>
              </a:spcAft>
            </a:pPr>
            <a:r>
              <a:rPr sz="1900" b="1">
                <a:solidFill>
                  <a:srgbClr val="27332C"/>
                </a:solidFill>
                <a:latin typeface="Arial"/>
              </a:rPr>
              <a:t>Own the tradeoff</a:t>
            </a:r>
          </a:p>
        </p:txBody>
      </p:sp>
      <p:sp>
        <p:nvSpPr>
          <p:cNvPr id="23" name="TextBox 22"/>
          <p:cNvSpPr txBox="1"/>
          <p:nvPr/>
        </p:nvSpPr>
        <p:spPr>
          <a:xfrm>
            <a:off x="8381999" y="4483100"/>
            <a:ext cx="3048000" cy="513588"/>
          </a:xfrm>
          <a:prstGeom prst="rect">
            <a:avLst/>
          </a:prstGeom>
          <a:noFill/>
        </p:spPr>
        <p:txBody>
          <a:bodyPr wrap="none" lIns="0" rIns="0" tIns="0" bIns="0" anchor="t">
            <a:spAutoFit/>
          </a:bodyPr>
          <a:lstStyle/>
          <a:p>
            <a:pPr>
              <a:lnSpc>
                <a:spcPts val="1872"/>
              </a:lnSpc>
              <a:spcBef>
                <a:spcPts val="0"/>
              </a:spcBef>
              <a:spcAft>
                <a:spcPts val="0"/>
              </a:spcAft>
            </a:pPr>
            <a:r>
              <a:rPr sz="1600" b="0">
                <a:solidFill>
                  <a:srgbClr val="647064"/>
                </a:solidFill>
                <a:latin typeface="Arial"/>
              </a:rPr>
              <a:t>A revised plan needs a clear</a:t>
            </a:r>
          </a:p>
          <a:p>
            <a:pPr>
              <a:lnSpc>
                <a:spcPts val="1872"/>
              </a:lnSpc>
              <a:spcBef>
                <a:spcPts val="0"/>
              </a:spcBef>
              <a:spcAft>
                <a:spcPts val="0"/>
              </a:spcAft>
            </a:pPr>
            <a:r>
              <a:rPr sz="1600" b="0">
                <a:solidFill>
                  <a:srgbClr val="647064"/>
                </a:solidFill>
                <a:latin typeface="Arial"/>
              </a:rPr>
              <a:t>handoff.</a:t>
            </a:r>
          </a:p>
        </p:txBody>
      </p:sp>
      <p:sp>
        <p:nvSpPr>
          <p:cNvPr id="24" name="TextBox 23"/>
          <p:cNvSpPr txBox="1"/>
          <p:nvPr/>
        </p:nvSpPr>
        <p:spPr>
          <a:xfrm>
            <a:off x="508000" y="5727700"/>
            <a:ext cx="1397000" cy="186690"/>
          </a:xfrm>
          <a:prstGeom prst="rect">
            <a:avLst/>
          </a:prstGeom>
          <a:noFill/>
        </p:spPr>
        <p:txBody>
          <a:bodyPr wrap="none" lIns="0" rIns="0" tIns="0" bIns="0" anchor="t">
            <a:spAutoFit/>
          </a:bodyPr>
          <a:lstStyle/>
          <a:p>
            <a:pPr>
              <a:lnSpc>
                <a:spcPts val="1170"/>
              </a:lnSpc>
              <a:spcBef>
                <a:spcPts val="0"/>
              </a:spcBef>
              <a:spcAft>
                <a:spcPts val="0"/>
              </a:spcAft>
            </a:pPr>
            <a:r>
              <a:rPr sz="1000" b="1">
                <a:solidFill>
                  <a:srgbClr val="647064"/>
                </a:solidFill>
                <a:latin typeface="Arial"/>
              </a:rPr>
              <a:t>FIRST USER</a:t>
            </a:r>
          </a:p>
        </p:txBody>
      </p:sp>
      <p:sp>
        <p:nvSpPr>
          <p:cNvPr id="25" name="TextBox 24"/>
          <p:cNvSpPr txBox="1"/>
          <p:nvPr/>
        </p:nvSpPr>
        <p:spPr>
          <a:xfrm>
            <a:off x="2006600" y="5651500"/>
            <a:ext cx="9461500" cy="305562"/>
          </a:xfrm>
          <a:prstGeom prst="rect">
            <a:avLst/>
          </a:prstGeom>
          <a:noFill/>
        </p:spPr>
        <p:txBody>
          <a:bodyPr wrap="none" lIns="0" rIns="0" tIns="0" bIns="0" anchor="t">
            <a:spAutoFit/>
          </a:bodyPr>
          <a:lstStyle/>
          <a:p>
            <a:pPr>
              <a:lnSpc>
                <a:spcPts val="2106"/>
              </a:lnSpc>
              <a:spcBef>
                <a:spcPts val="0"/>
              </a:spcBef>
              <a:spcAft>
                <a:spcPts val="0"/>
              </a:spcAft>
            </a:pPr>
            <a:r>
              <a:rPr sz="1800" b="0">
                <a:solidFill>
                  <a:srgbClr val="27332C"/>
                </a:solidFill>
                <a:latin typeface="Arial"/>
              </a:rPr>
              <a:t>A production planner in a make-to-order machine shop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6EF"/>
        </a:solidFill>
        <a:effectLst/>
      </p:bgPr>
    </p:bg>
    <p:spTree>
      <p:nvGrpSpPr>
        <p:cNvPr id="1" name=""/>
        <p:cNvGrpSpPr/>
        <p:nvPr/>
      </p:nvGrpSpPr>
      <p:grpSpPr/>
      <p:sp>
        <p:nvSpPr>
          <p:cNvPr id="2" name="Rectangle 1"/>
          <p:cNvSpPr/>
          <p:nvPr/>
        </p:nvSpPr>
        <p:spPr>
          <a:xfrm>
            <a:off x="482600" y="508000"/>
            <a:ext cx="50800" cy="152400"/>
          </a:xfrm>
          <a:prstGeom prst="rect">
            <a:avLst/>
          </a:prstGeom>
          <a:solidFill>
            <a:srgbClr val="D45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71500" y="406400"/>
            <a:ext cx="50800" cy="254000"/>
          </a:xfrm>
          <a:prstGeom prst="rect">
            <a:avLst/>
          </a:prstGeom>
          <a:solidFill>
            <a:srgbClr val="D45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60400" y="317500"/>
            <a:ext cx="50800" cy="342900"/>
          </a:xfrm>
          <a:prstGeom prst="rect">
            <a:avLst/>
          </a:prstGeom>
          <a:solidFill>
            <a:srgbClr val="D45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3600" y="368300"/>
            <a:ext cx="2286000" cy="216408"/>
          </a:xfrm>
          <a:prstGeom prst="rect">
            <a:avLst/>
          </a:prstGeom>
          <a:noFill/>
        </p:spPr>
        <p:txBody>
          <a:bodyPr wrap="none" lIns="0" rIns="0" tIns="0" bIns="0" anchor="t">
            <a:spAutoFit/>
          </a:bodyPr>
          <a:lstStyle/>
          <a:p>
            <a:pPr>
              <a:lnSpc>
                <a:spcPts val="1404"/>
              </a:lnSpc>
              <a:spcBef>
                <a:spcPts val="0"/>
              </a:spcBef>
              <a:spcAft>
                <a:spcPts val="0"/>
              </a:spcAft>
            </a:pPr>
            <a:r>
              <a:rPr sz="1200" b="1">
                <a:solidFill>
                  <a:srgbClr val="27332C"/>
                </a:solidFill>
                <a:latin typeface="Arial"/>
              </a:rPr>
              <a:t>REHEARSAL</a:t>
            </a:r>
          </a:p>
        </p:txBody>
      </p:sp>
      <p:sp>
        <p:nvSpPr>
          <p:cNvPr id="6" name="TextBox 5"/>
          <p:cNvSpPr txBox="1"/>
          <p:nvPr/>
        </p:nvSpPr>
        <p:spPr>
          <a:xfrm>
            <a:off x="5334000" y="381000"/>
            <a:ext cx="6223000" cy="186690"/>
          </a:xfrm>
          <a:prstGeom prst="rect">
            <a:avLst/>
          </a:prstGeom>
          <a:noFill/>
        </p:spPr>
        <p:txBody>
          <a:bodyPr wrap="none" lIns="0" rIns="0" tIns="0" bIns="0" anchor="t">
            <a:spAutoFit/>
          </a:bodyPr>
          <a:lstStyle/>
          <a:p>
            <a:pPr>
              <a:lnSpc>
                <a:spcPts val="1170"/>
              </a:lnSpc>
              <a:spcBef>
                <a:spcPts val="0"/>
              </a:spcBef>
              <a:spcAft>
                <a:spcPts val="0"/>
              </a:spcAft>
            </a:pPr>
            <a:r>
              <a:rPr sz="1000" b="0">
                <a:solidFill>
                  <a:srgbClr val="647064"/>
                </a:solidFill>
                <a:latin typeface="Arial"/>
              </a:rPr>
              <a:t>FROM A MESSAGE TO A DECISION</a:t>
            </a:r>
          </a:p>
        </p:txBody>
      </p:sp>
      <p:sp>
        <p:nvSpPr>
          <p:cNvPr id="7" name="TextBox 6"/>
          <p:cNvSpPr txBox="1"/>
          <p:nvPr/>
        </p:nvSpPr>
        <p:spPr>
          <a:xfrm>
            <a:off x="482600" y="6515100"/>
            <a:ext cx="7620000" cy="156972"/>
          </a:xfrm>
          <a:prstGeom prst="rect">
            <a:avLst/>
          </a:prstGeom>
          <a:noFill/>
        </p:spPr>
        <p:txBody>
          <a:bodyPr wrap="none" lIns="0" rIns="0" tIns="0" bIns="0" anchor="t">
            <a:spAutoFit/>
          </a:bodyPr>
          <a:lstStyle/>
          <a:p>
            <a:pPr>
              <a:lnSpc>
                <a:spcPts val="936"/>
              </a:lnSpc>
              <a:spcBef>
                <a:spcPts val="0"/>
              </a:spcBef>
              <a:spcAft>
                <a:spcPts val="0"/>
              </a:spcAft>
            </a:pPr>
            <a:r>
              <a:rPr sz="800" b="0">
                <a:solidFill>
                  <a:srgbClr val="647064"/>
                </a:solidFill>
                <a:latin typeface="Arial"/>
              </a:rPr>
              <a:t>FORGE AHEAD / AMD DEVELOPER HACKATHON: ACT III</a:t>
            </a:r>
          </a:p>
        </p:txBody>
      </p:sp>
      <p:sp>
        <p:nvSpPr>
          <p:cNvPr id="8" name="TextBox 7"/>
          <p:cNvSpPr txBox="1"/>
          <p:nvPr/>
        </p:nvSpPr>
        <p:spPr>
          <a:xfrm>
            <a:off x="11353800" y="6489700"/>
            <a:ext cx="381000" cy="186690"/>
          </a:xfrm>
          <a:prstGeom prst="rect">
            <a:avLst/>
          </a:prstGeom>
          <a:noFill/>
        </p:spPr>
        <p:txBody>
          <a:bodyPr wrap="none" lIns="0" rIns="0" tIns="0" bIns="0" anchor="t">
            <a:spAutoFit/>
          </a:bodyPr>
          <a:lstStyle/>
          <a:p>
            <a:pPr>
              <a:lnSpc>
                <a:spcPts val="1170"/>
              </a:lnSpc>
              <a:spcBef>
                <a:spcPts val="0"/>
              </a:spcBef>
              <a:spcAft>
                <a:spcPts val="0"/>
              </a:spcAft>
            </a:pPr>
            <a:r>
              <a:rPr sz="1000" b="0">
                <a:solidFill>
                  <a:srgbClr val="647064"/>
                </a:solidFill>
                <a:latin typeface="Arial"/>
              </a:rPr>
              <a:t>03</a:t>
            </a:r>
          </a:p>
        </p:txBody>
      </p:sp>
      <p:sp>
        <p:nvSpPr>
          <p:cNvPr id="9" name="TextBox 8"/>
          <p:cNvSpPr txBox="1"/>
          <p:nvPr/>
        </p:nvSpPr>
        <p:spPr>
          <a:xfrm>
            <a:off x="482600" y="6223000"/>
            <a:ext cx="10160000" cy="156972"/>
          </a:xfrm>
          <a:prstGeom prst="rect">
            <a:avLst/>
          </a:prstGeom>
          <a:noFill/>
        </p:spPr>
        <p:txBody>
          <a:bodyPr wrap="none" lIns="0" rIns="0" tIns="0" bIns="0" anchor="t">
            <a:spAutoFit/>
          </a:bodyPr>
          <a:lstStyle/>
          <a:p>
            <a:pPr>
              <a:lnSpc>
                <a:spcPts val="936"/>
              </a:lnSpc>
              <a:spcBef>
                <a:spcPts val="0"/>
              </a:spcBef>
              <a:spcAft>
                <a:spcPts val="0"/>
              </a:spcAft>
            </a:pPr>
            <a:r>
              <a:rPr sz="800" b="0">
                <a:solidFill>
                  <a:srgbClr val="647064"/>
                </a:solidFill>
                <a:latin typeface="Arial"/>
                <a:hlinkClick r:id="rId2"/>
              </a:rPr>
              <a:t>Evidence / source</a:t>
            </a:r>
          </a:p>
        </p:txBody>
      </p:sp>
      <p:sp>
        <p:nvSpPr>
          <p:cNvPr id="10" name="TextBox 9"/>
          <p:cNvSpPr txBox="1"/>
          <p:nvPr/>
        </p:nvSpPr>
        <p:spPr>
          <a:xfrm>
            <a:off x="482600" y="1054100"/>
            <a:ext cx="11226800" cy="1054100"/>
          </a:xfrm>
          <a:prstGeom prst="rect">
            <a:avLst/>
          </a:prstGeom>
          <a:noFill/>
        </p:spPr>
        <p:txBody>
          <a:bodyPr wrap="none" lIns="0" rIns="0" tIns="0" bIns="0" anchor="t">
            <a:spAutoFit/>
          </a:bodyPr>
          <a:lstStyle/>
          <a:p>
            <a:pPr>
              <a:lnSpc>
                <a:spcPts val="4000"/>
              </a:lnSpc>
              <a:spcBef>
                <a:spcPts val="0"/>
              </a:spcBef>
              <a:spcAft>
                <a:spcPts val="0"/>
              </a:spcAft>
            </a:pPr>
            <a:r>
              <a:rPr sz="3700" b="1">
                <a:solidFill>
                  <a:srgbClr val="27332C"/>
                </a:solidFill>
                <a:latin typeface="Arial"/>
              </a:rPr>
              <a:t>The note becomes</a:t>
            </a:r>
          </a:p>
          <a:p>
            <a:pPr>
              <a:lnSpc>
                <a:spcPts val="4000"/>
              </a:lnSpc>
              <a:spcBef>
                <a:spcPts val="0"/>
              </a:spcBef>
              <a:spcAft>
                <a:spcPts val="0"/>
              </a:spcAft>
            </a:pPr>
            <a:r>
              <a:rPr sz="3700" b="1">
                <a:solidFill>
                  <a:srgbClr val="27332C"/>
                </a:solidFill>
                <a:latin typeface="Arial"/>
              </a:rPr>
              <a:t>a plan you can inspect.</a:t>
            </a:r>
          </a:p>
        </p:txBody>
      </p:sp>
      <p:sp>
        <p:nvSpPr>
          <p:cNvPr id="11" name="Rounded Rectangle 10"/>
          <p:cNvSpPr/>
          <p:nvPr/>
        </p:nvSpPr>
        <p:spPr>
          <a:xfrm>
            <a:off x="482600" y="2387600"/>
            <a:ext cx="11226800" cy="1054100"/>
          </a:xfrm>
          <a:prstGeom prst="roundRect">
            <a:avLst/>
          </a:prstGeom>
          <a:solidFill>
            <a:srgbClr val="2733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900" y="2590800"/>
            <a:ext cx="10693400" cy="573023"/>
          </a:xfrm>
          <a:prstGeom prst="rect">
            <a:avLst/>
          </a:prstGeom>
          <a:noFill/>
        </p:spPr>
        <p:txBody>
          <a:bodyPr wrap="none" lIns="0" rIns="0" tIns="0" bIns="0" anchor="t">
            <a:spAutoFit/>
          </a:bodyPr>
          <a:lstStyle/>
          <a:p>
            <a:pPr>
              <a:lnSpc>
                <a:spcPts val="2106"/>
              </a:lnSpc>
              <a:spcBef>
                <a:spcPts val="0"/>
              </a:spcBef>
              <a:spcAft>
                <a:spcPts val="0"/>
              </a:spcAft>
            </a:pPr>
            <a:r>
              <a:rPr sz="1800" b="0">
                <a:solidFill>
                  <a:srgbClr val="FFFFFF"/>
                </a:solidFill>
                <a:latin typeface="Arial"/>
              </a:rPr>
              <a:t>“Mill M2 is unavailable until 14:00. Order J7 still needs to ship at 16:00.</a:t>
            </a:r>
          </a:p>
          <a:p>
            <a:pPr>
              <a:lnSpc>
                <a:spcPts val="2106"/>
              </a:lnSpc>
              <a:spcBef>
                <a:spcPts val="0"/>
              </a:spcBef>
              <a:spcAft>
                <a:spcPts val="0"/>
              </a:spcAft>
            </a:pPr>
            <a:r>
              <a:rPr sz="1800" b="0">
                <a:solidFill>
                  <a:srgbClr val="FFFFFF"/>
                </a:solidFill>
                <a:latin typeface="Arial"/>
              </a:rPr>
              <a:t>Overtime requires approval.”</a:t>
            </a:r>
          </a:p>
        </p:txBody>
      </p:sp>
      <p:sp>
        <p:nvSpPr>
          <p:cNvPr id="13" name="Rounded Rectangle 12"/>
          <p:cNvSpPr/>
          <p:nvPr/>
        </p:nvSpPr>
        <p:spPr>
          <a:xfrm>
            <a:off x="482600" y="3733799"/>
            <a:ext cx="2082800" cy="685800"/>
          </a:xfrm>
          <a:prstGeom prst="roundRect">
            <a:avLst/>
          </a:prstGeom>
          <a:solidFill>
            <a:srgbClr val="D45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000" y="3962399"/>
            <a:ext cx="1816100" cy="201548"/>
          </a:xfrm>
          <a:prstGeom prst="rect">
            <a:avLst/>
          </a:prstGeom>
          <a:noFill/>
        </p:spPr>
        <p:txBody>
          <a:bodyPr wrap="none" lIns="0" rIns="0" tIns="0" bIns="0" anchor="t">
            <a:spAutoFit/>
          </a:bodyPr>
          <a:lstStyle/>
          <a:p>
            <a:pPr>
              <a:lnSpc>
                <a:spcPts val="1287"/>
              </a:lnSpc>
              <a:spcBef>
                <a:spcPts val="0"/>
              </a:spcBef>
              <a:spcAft>
                <a:spcPts val="0"/>
              </a:spcAft>
            </a:pPr>
            <a:r>
              <a:rPr sz="1100" b="1">
                <a:solidFill>
                  <a:srgbClr val="FFFFFF"/>
                </a:solidFill>
                <a:latin typeface="Arial"/>
              </a:rPr>
              <a:t>READ ON AMD</a:t>
            </a:r>
          </a:p>
        </p:txBody>
      </p:sp>
      <p:sp>
        <p:nvSpPr>
          <p:cNvPr id="15" name="Rounded Rectangle 14"/>
          <p:cNvSpPr/>
          <p:nvPr/>
        </p:nvSpPr>
        <p:spPr>
          <a:xfrm>
            <a:off x="2768600" y="3733799"/>
            <a:ext cx="2082800" cy="685800"/>
          </a:xfrm>
          <a:prstGeom prst="roundRect">
            <a:avLst/>
          </a:prstGeom>
          <a:solidFill>
            <a:srgbClr val="E8EC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21000" y="3962399"/>
            <a:ext cx="1816100" cy="201548"/>
          </a:xfrm>
          <a:prstGeom prst="rect">
            <a:avLst/>
          </a:prstGeom>
          <a:noFill/>
        </p:spPr>
        <p:txBody>
          <a:bodyPr wrap="none" lIns="0" rIns="0" tIns="0" bIns="0" anchor="t">
            <a:spAutoFit/>
          </a:bodyPr>
          <a:lstStyle/>
          <a:p>
            <a:pPr>
              <a:lnSpc>
                <a:spcPts val="1287"/>
              </a:lnSpc>
              <a:spcBef>
                <a:spcPts val="0"/>
              </a:spcBef>
              <a:spcAft>
                <a:spcPts val="0"/>
              </a:spcAft>
            </a:pPr>
            <a:r>
              <a:rPr sz="1100" b="1">
                <a:solidFill>
                  <a:srgbClr val="27332C"/>
                </a:solidFill>
                <a:latin typeface="Arial"/>
              </a:rPr>
              <a:t>REVIEW</a:t>
            </a:r>
          </a:p>
        </p:txBody>
      </p:sp>
      <p:sp>
        <p:nvSpPr>
          <p:cNvPr id="17" name="Rounded Rectangle 16"/>
          <p:cNvSpPr/>
          <p:nvPr/>
        </p:nvSpPr>
        <p:spPr>
          <a:xfrm>
            <a:off x="5054600" y="3733799"/>
            <a:ext cx="2082800" cy="685800"/>
          </a:xfrm>
          <a:prstGeom prst="roundRect">
            <a:avLst/>
          </a:prstGeom>
          <a:solidFill>
            <a:srgbClr val="E8EC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07000" y="3962399"/>
            <a:ext cx="1816100" cy="201548"/>
          </a:xfrm>
          <a:prstGeom prst="rect">
            <a:avLst/>
          </a:prstGeom>
          <a:noFill/>
        </p:spPr>
        <p:txBody>
          <a:bodyPr wrap="none" lIns="0" rIns="0" tIns="0" bIns="0" anchor="t">
            <a:spAutoFit/>
          </a:bodyPr>
          <a:lstStyle/>
          <a:p>
            <a:pPr>
              <a:lnSpc>
                <a:spcPts val="1287"/>
              </a:lnSpc>
              <a:spcBef>
                <a:spcPts val="0"/>
              </a:spcBef>
              <a:spcAft>
                <a:spcPts val="0"/>
              </a:spcAft>
            </a:pPr>
            <a:r>
              <a:rPr sz="1100" b="1">
                <a:solidFill>
                  <a:srgbClr val="27332C"/>
                </a:solidFill>
                <a:latin typeface="Arial"/>
              </a:rPr>
              <a:t>SOLVE + CHECK</a:t>
            </a:r>
          </a:p>
        </p:txBody>
      </p:sp>
      <p:sp>
        <p:nvSpPr>
          <p:cNvPr id="19" name="Rounded Rectangle 18"/>
          <p:cNvSpPr/>
          <p:nvPr/>
        </p:nvSpPr>
        <p:spPr>
          <a:xfrm>
            <a:off x="7340600" y="3733799"/>
            <a:ext cx="2082800" cy="685800"/>
          </a:xfrm>
          <a:prstGeom prst="roundRect">
            <a:avLst/>
          </a:prstGeom>
          <a:solidFill>
            <a:srgbClr val="E8EC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3000" y="3962399"/>
            <a:ext cx="1816100" cy="201548"/>
          </a:xfrm>
          <a:prstGeom prst="rect">
            <a:avLst/>
          </a:prstGeom>
          <a:noFill/>
        </p:spPr>
        <p:txBody>
          <a:bodyPr wrap="none" lIns="0" rIns="0" tIns="0" bIns="0" anchor="t">
            <a:spAutoFit/>
          </a:bodyPr>
          <a:lstStyle/>
          <a:p>
            <a:pPr>
              <a:lnSpc>
                <a:spcPts val="1287"/>
              </a:lnSpc>
              <a:spcBef>
                <a:spcPts val="0"/>
              </a:spcBef>
              <a:spcAft>
                <a:spcPts val="0"/>
              </a:spcAft>
            </a:pPr>
            <a:r>
              <a:rPr sz="1100" b="1">
                <a:solidFill>
                  <a:srgbClr val="27332C"/>
                </a:solidFill>
                <a:latin typeface="Arial"/>
              </a:rPr>
              <a:t>REHEARSE</a:t>
            </a:r>
          </a:p>
        </p:txBody>
      </p:sp>
      <p:sp>
        <p:nvSpPr>
          <p:cNvPr id="21" name="Rounded Rectangle 20"/>
          <p:cNvSpPr/>
          <p:nvPr/>
        </p:nvSpPr>
        <p:spPr>
          <a:xfrm>
            <a:off x="9626600" y="3733799"/>
            <a:ext cx="2082800" cy="685800"/>
          </a:xfrm>
          <a:prstGeom prst="roundRect">
            <a:avLst/>
          </a:prstGeom>
          <a:solidFill>
            <a:srgbClr val="E8EC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779000" y="3962399"/>
            <a:ext cx="1816100" cy="201548"/>
          </a:xfrm>
          <a:prstGeom prst="rect">
            <a:avLst/>
          </a:prstGeom>
          <a:noFill/>
        </p:spPr>
        <p:txBody>
          <a:bodyPr wrap="none" lIns="0" rIns="0" tIns="0" bIns="0" anchor="t">
            <a:spAutoFit/>
          </a:bodyPr>
          <a:lstStyle/>
          <a:p>
            <a:pPr>
              <a:lnSpc>
                <a:spcPts val="1287"/>
              </a:lnSpc>
              <a:spcBef>
                <a:spcPts val="0"/>
              </a:spcBef>
              <a:spcAft>
                <a:spcPts val="0"/>
              </a:spcAft>
            </a:pPr>
            <a:r>
              <a:rPr sz="1100" b="1">
                <a:solidFill>
                  <a:srgbClr val="27332C"/>
                </a:solidFill>
                <a:latin typeface="Arial"/>
              </a:rPr>
              <a:t>APPROVE + EXPORT</a:t>
            </a:r>
          </a:p>
        </p:txBody>
      </p:sp>
      <p:sp>
        <p:nvSpPr>
          <p:cNvPr id="23" name="TextBox 22"/>
          <p:cNvSpPr txBox="1"/>
          <p:nvPr/>
        </p:nvSpPr>
        <p:spPr>
          <a:xfrm>
            <a:off x="520700" y="4749800"/>
            <a:ext cx="3581400" cy="216408"/>
          </a:xfrm>
          <a:prstGeom prst="rect">
            <a:avLst/>
          </a:prstGeom>
          <a:noFill/>
        </p:spPr>
        <p:txBody>
          <a:bodyPr wrap="none" lIns="0" rIns="0" tIns="0" bIns="0" anchor="t">
            <a:spAutoFit/>
          </a:bodyPr>
          <a:lstStyle/>
          <a:p>
            <a:pPr>
              <a:lnSpc>
                <a:spcPts val="1404"/>
              </a:lnSpc>
              <a:spcBef>
                <a:spcPts val="0"/>
              </a:spcBef>
              <a:spcAft>
                <a:spcPts val="0"/>
              </a:spcAft>
            </a:pPr>
            <a:r>
              <a:rPr sz="1200" b="1">
                <a:solidFill>
                  <a:srgbClr val="647064"/>
                </a:solidFill>
                <a:latin typeface="Arial"/>
              </a:rPr>
              <a:t>Machine outage</a:t>
            </a:r>
          </a:p>
        </p:txBody>
      </p:sp>
      <p:sp>
        <p:nvSpPr>
          <p:cNvPr id="24" name="TextBox 23"/>
          <p:cNvSpPr txBox="1"/>
          <p:nvPr/>
        </p:nvSpPr>
        <p:spPr>
          <a:xfrm>
            <a:off x="520700" y="5067300"/>
            <a:ext cx="3581400" cy="320420"/>
          </a:xfrm>
          <a:prstGeom prst="rect">
            <a:avLst/>
          </a:prstGeom>
          <a:noFill/>
        </p:spPr>
        <p:txBody>
          <a:bodyPr wrap="none" lIns="0" rIns="0" tIns="0" bIns="0" anchor="t">
            <a:spAutoFit/>
          </a:bodyPr>
          <a:lstStyle/>
          <a:p>
            <a:pPr>
              <a:lnSpc>
                <a:spcPts val="2222"/>
              </a:lnSpc>
              <a:spcBef>
                <a:spcPts val="0"/>
              </a:spcBef>
              <a:spcAft>
                <a:spcPts val="0"/>
              </a:spcAft>
            </a:pPr>
            <a:r>
              <a:rPr sz="1900" b="1">
                <a:solidFill>
                  <a:srgbClr val="27332C"/>
                </a:solidFill>
                <a:latin typeface="Arial"/>
              </a:rPr>
              <a:t>M2 · 10:00–14:00</a:t>
            </a:r>
          </a:p>
        </p:txBody>
      </p:sp>
      <p:sp>
        <p:nvSpPr>
          <p:cNvPr id="25" name="TextBox 24"/>
          <p:cNvSpPr txBox="1"/>
          <p:nvPr/>
        </p:nvSpPr>
        <p:spPr>
          <a:xfrm>
            <a:off x="4343400" y="4749800"/>
            <a:ext cx="3581400" cy="216408"/>
          </a:xfrm>
          <a:prstGeom prst="rect">
            <a:avLst/>
          </a:prstGeom>
          <a:noFill/>
        </p:spPr>
        <p:txBody>
          <a:bodyPr wrap="none" lIns="0" rIns="0" tIns="0" bIns="0" anchor="t">
            <a:spAutoFit/>
          </a:bodyPr>
          <a:lstStyle/>
          <a:p>
            <a:pPr>
              <a:lnSpc>
                <a:spcPts val="1404"/>
              </a:lnSpc>
              <a:spcBef>
                <a:spcPts val="0"/>
              </a:spcBef>
              <a:spcAft>
                <a:spcPts val="0"/>
              </a:spcAft>
            </a:pPr>
            <a:r>
              <a:rPr sz="1200" b="1">
                <a:solidFill>
                  <a:srgbClr val="647064"/>
                </a:solidFill>
                <a:latin typeface="Arial"/>
              </a:rPr>
              <a:t>Hard deadline</a:t>
            </a:r>
          </a:p>
        </p:txBody>
      </p:sp>
      <p:sp>
        <p:nvSpPr>
          <p:cNvPr id="26" name="TextBox 25"/>
          <p:cNvSpPr txBox="1"/>
          <p:nvPr/>
        </p:nvSpPr>
        <p:spPr>
          <a:xfrm>
            <a:off x="4343400" y="5067300"/>
            <a:ext cx="3581400" cy="320420"/>
          </a:xfrm>
          <a:prstGeom prst="rect">
            <a:avLst/>
          </a:prstGeom>
          <a:noFill/>
        </p:spPr>
        <p:txBody>
          <a:bodyPr wrap="none" lIns="0" rIns="0" tIns="0" bIns="0" anchor="t">
            <a:spAutoFit/>
          </a:bodyPr>
          <a:lstStyle/>
          <a:p>
            <a:pPr>
              <a:lnSpc>
                <a:spcPts val="2222"/>
              </a:lnSpc>
              <a:spcBef>
                <a:spcPts val="0"/>
              </a:spcBef>
              <a:spcAft>
                <a:spcPts val="0"/>
              </a:spcAft>
            </a:pPr>
            <a:r>
              <a:rPr sz="1900" b="1">
                <a:solidFill>
                  <a:srgbClr val="27332C"/>
                </a:solidFill>
                <a:latin typeface="Arial"/>
              </a:rPr>
              <a:t>J7 · 16:00</a:t>
            </a:r>
          </a:p>
        </p:txBody>
      </p:sp>
      <p:sp>
        <p:nvSpPr>
          <p:cNvPr id="27" name="TextBox 26"/>
          <p:cNvSpPr txBox="1"/>
          <p:nvPr/>
        </p:nvSpPr>
        <p:spPr>
          <a:xfrm>
            <a:off x="8166100" y="4749800"/>
            <a:ext cx="3581400" cy="216408"/>
          </a:xfrm>
          <a:prstGeom prst="rect">
            <a:avLst/>
          </a:prstGeom>
          <a:noFill/>
        </p:spPr>
        <p:txBody>
          <a:bodyPr wrap="none" lIns="0" rIns="0" tIns="0" bIns="0" anchor="t">
            <a:spAutoFit/>
          </a:bodyPr>
          <a:lstStyle/>
          <a:p>
            <a:pPr>
              <a:lnSpc>
                <a:spcPts val="1404"/>
              </a:lnSpc>
              <a:spcBef>
                <a:spcPts val="0"/>
              </a:spcBef>
              <a:spcAft>
                <a:spcPts val="0"/>
              </a:spcAft>
            </a:pPr>
            <a:r>
              <a:rPr sz="1200" b="1">
                <a:solidFill>
                  <a:srgbClr val="647064"/>
                </a:solidFill>
                <a:latin typeface="Arial"/>
              </a:rPr>
              <a:t>Proposed option</a:t>
            </a:r>
          </a:p>
        </p:txBody>
      </p:sp>
      <p:sp>
        <p:nvSpPr>
          <p:cNvPr id="28" name="TextBox 27"/>
          <p:cNvSpPr txBox="1"/>
          <p:nvPr/>
        </p:nvSpPr>
        <p:spPr>
          <a:xfrm>
            <a:off x="8166100" y="5067300"/>
            <a:ext cx="3581400" cy="320420"/>
          </a:xfrm>
          <a:prstGeom prst="rect">
            <a:avLst/>
          </a:prstGeom>
          <a:noFill/>
        </p:spPr>
        <p:txBody>
          <a:bodyPr wrap="none" lIns="0" rIns="0" tIns="0" bIns="0" anchor="t">
            <a:spAutoFit/>
          </a:bodyPr>
          <a:lstStyle/>
          <a:p>
            <a:pPr>
              <a:lnSpc>
                <a:spcPts val="2222"/>
              </a:lnSpc>
              <a:spcBef>
                <a:spcPts val="0"/>
              </a:spcBef>
              <a:spcAft>
                <a:spcPts val="0"/>
              </a:spcAft>
            </a:pPr>
            <a:r>
              <a:rPr sz="1900" b="1">
                <a:solidFill>
                  <a:srgbClr val="27332C"/>
                </a:solidFill>
                <a:latin typeface="Arial"/>
              </a:rPr>
              <a:t>Overtime · approval needed</a:t>
            </a:r>
          </a:p>
        </p:txBody>
      </p:sp>
      <p:sp>
        <p:nvSpPr>
          <p:cNvPr id="29" name="TextBox 28"/>
          <p:cNvSpPr txBox="1"/>
          <p:nvPr/>
        </p:nvSpPr>
        <p:spPr>
          <a:xfrm>
            <a:off x="520700" y="5727700"/>
            <a:ext cx="11099800" cy="260985"/>
          </a:xfrm>
          <a:prstGeom prst="rect">
            <a:avLst/>
          </a:prstGeom>
          <a:noFill/>
        </p:spPr>
        <p:txBody>
          <a:bodyPr wrap="none" lIns="0" rIns="0" tIns="0" bIns="0" anchor="t">
            <a:spAutoFit/>
          </a:bodyPr>
          <a:lstStyle/>
          <a:p>
            <a:pPr>
              <a:lnSpc>
                <a:spcPts val="1754"/>
              </a:lnSpc>
              <a:spcBef>
                <a:spcPts val="0"/>
              </a:spcBef>
              <a:spcAft>
                <a:spcPts val="0"/>
              </a:spcAft>
            </a:pPr>
            <a:r>
              <a:rPr sz="1500" b="0">
                <a:solidFill>
                  <a:srgbClr val="647064"/>
                </a:solidFill>
                <a:latin typeface="Arial"/>
              </a:rPr>
              <a:t>Unknown machines and missing required times are flagged for human review.</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6EF"/>
        </a:solidFill>
        <a:effectLst/>
      </p:bgPr>
    </p:bg>
    <p:spTree>
      <p:nvGrpSpPr>
        <p:cNvPr id="1" name=""/>
        <p:cNvGrpSpPr/>
        <p:nvPr/>
      </p:nvGrpSpPr>
      <p:grpSpPr/>
      <p:sp>
        <p:nvSpPr>
          <p:cNvPr id="2" name="Rectangle 1"/>
          <p:cNvSpPr/>
          <p:nvPr/>
        </p:nvSpPr>
        <p:spPr>
          <a:xfrm>
            <a:off x="482600" y="508000"/>
            <a:ext cx="50800" cy="152400"/>
          </a:xfrm>
          <a:prstGeom prst="rect">
            <a:avLst/>
          </a:prstGeom>
          <a:solidFill>
            <a:srgbClr val="D45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71500" y="406400"/>
            <a:ext cx="50800" cy="254000"/>
          </a:xfrm>
          <a:prstGeom prst="rect">
            <a:avLst/>
          </a:prstGeom>
          <a:solidFill>
            <a:srgbClr val="D45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60400" y="317500"/>
            <a:ext cx="50800" cy="342900"/>
          </a:xfrm>
          <a:prstGeom prst="rect">
            <a:avLst/>
          </a:prstGeom>
          <a:solidFill>
            <a:srgbClr val="D45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3600" y="368300"/>
            <a:ext cx="2286000" cy="216408"/>
          </a:xfrm>
          <a:prstGeom prst="rect">
            <a:avLst/>
          </a:prstGeom>
          <a:noFill/>
        </p:spPr>
        <p:txBody>
          <a:bodyPr wrap="none" lIns="0" rIns="0" tIns="0" bIns="0" anchor="t">
            <a:spAutoFit/>
          </a:bodyPr>
          <a:lstStyle/>
          <a:p>
            <a:pPr>
              <a:lnSpc>
                <a:spcPts val="1404"/>
              </a:lnSpc>
              <a:spcBef>
                <a:spcPts val="0"/>
              </a:spcBef>
              <a:spcAft>
                <a:spcPts val="0"/>
              </a:spcAft>
            </a:pPr>
            <a:r>
              <a:rPr sz="1200" b="1">
                <a:solidFill>
                  <a:srgbClr val="27332C"/>
                </a:solidFill>
                <a:latin typeface="Arial"/>
              </a:rPr>
              <a:t>REHEARSAL</a:t>
            </a:r>
          </a:p>
        </p:txBody>
      </p:sp>
      <p:sp>
        <p:nvSpPr>
          <p:cNvPr id="6" name="TextBox 5"/>
          <p:cNvSpPr txBox="1"/>
          <p:nvPr/>
        </p:nvSpPr>
        <p:spPr>
          <a:xfrm>
            <a:off x="5334000" y="381000"/>
            <a:ext cx="6223000" cy="186690"/>
          </a:xfrm>
          <a:prstGeom prst="rect">
            <a:avLst/>
          </a:prstGeom>
          <a:noFill/>
        </p:spPr>
        <p:txBody>
          <a:bodyPr wrap="none" lIns="0" rIns="0" tIns="0" bIns="0" anchor="t">
            <a:spAutoFit/>
          </a:bodyPr>
          <a:lstStyle/>
          <a:p>
            <a:pPr>
              <a:lnSpc>
                <a:spcPts val="1170"/>
              </a:lnSpc>
              <a:spcBef>
                <a:spcPts val="0"/>
              </a:spcBef>
              <a:spcAft>
                <a:spcPts val="0"/>
              </a:spcAft>
            </a:pPr>
            <a:r>
              <a:rPr sz="1000" b="0">
                <a:solidFill>
                  <a:srgbClr val="647064"/>
                </a:solidFill>
                <a:latin typeface="Arial"/>
              </a:rPr>
              <a:t>THE CHECKED RECOVERY</a:t>
            </a:r>
          </a:p>
        </p:txBody>
      </p:sp>
      <p:sp>
        <p:nvSpPr>
          <p:cNvPr id="7" name="TextBox 6"/>
          <p:cNvSpPr txBox="1"/>
          <p:nvPr/>
        </p:nvSpPr>
        <p:spPr>
          <a:xfrm>
            <a:off x="482600" y="6515100"/>
            <a:ext cx="7620000" cy="156972"/>
          </a:xfrm>
          <a:prstGeom prst="rect">
            <a:avLst/>
          </a:prstGeom>
          <a:noFill/>
        </p:spPr>
        <p:txBody>
          <a:bodyPr wrap="none" lIns="0" rIns="0" tIns="0" bIns="0" anchor="t">
            <a:spAutoFit/>
          </a:bodyPr>
          <a:lstStyle/>
          <a:p>
            <a:pPr>
              <a:lnSpc>
                <a:spcPts val="936"/>
              </a:lnSpc>
              <a:spcBef>
                <a:spcPts val="0"/>
              </a:spcBef>
              <a:spcAft>
                <a:spcPts val="0"/>
              </a:spcAft>
            </a:pPr>
            <a:r>
              <a:rPr sz="800" b="0">
                <a:solidFill>
                  <a:srgbClr val="647064"/>
                </a:solidFill>
                <a:latin typeface="Arial"/>
              </a:rPr>
              <a:t>FORGE AHEAD / AMD DEVELOPER HACKATHON: ACT III</a:t>
            </a:r>
          </a:p>
        </p:txBody>
      </p:sp>
      <p:sp>
        <p:nvSpPr>
          <p:cNvPr id="8" name="TextBox 7"/>
          <p:cNvSpPr txBox="1"/>
          <p:nvPr/>
        </p:nvSpPr>
        <p:spPr>
          <a:xfrm>
            <a:off x="11353800" y="6489700"/>
            <a:ext cx="381000" cy="186690"/>
          </a:xfrm>
          <a:prstGeom prst="rect">
            <a:avLst/>
          </a:prstGeom>
          <a:noFill/>
        </p:spPr>
        <p:txBody>
          <a:bodyPr wrap="none" lIns="0" rIns="0" tIns="0" bIns="0" anchor="t">
            <a:spAutoFit/>
          </a:bodyPr>
          <a:lstStyle/>
          <a:p>
            <a:pPr>
              <a:lnSpc>
                <a:spcPts val="1170"/>
              </a:lnSpc>
              <a:spcBef>
                <a:spcPts val="0"/>
              </a:spcBef>
              <a:spcAft>
                <a:spcPts val="0"/>
              </a:spcAft>
            </a:pPr>
            <a:r>
              <a:rPr sz="1000" b="0">
                <a:solidFill>
                  <a:srgbClr val="647064"/>
                </a:solidFill>
                <a:latin typeface="Arial"/>
              </a:rPr>
              <a:t>04</a:t>
            </a:r>
          </a:p>
        </p:txBody>
      </p:sp>
      <p:sp>
        <p:nvSpPr>
          <p:cNvPr id="9" name="TextBox 8"/>
          <p:cNvSpPr txBox="1"/>
          <p:nvPr/>
        </p:nvSpPr>
        <p:spPr>
          <a:xfrm>
            <a:off x="482600" y="6223000"/>
            <a:ext cx="10160000" cy="156972"/>
          </a:xfrm>
          <a:prstGeom prst="rect">
            <a:avLst/>
          </a:prstGeom>
          <a:noFill/>
        </p:spPr>
        <p:txBody>
          <a:bodyPr wrap="none" lIns="0" rIns="0" tIns="0" bIns="0" anchor="t">
            <a:spAutoFit/>
          </a:bodyPr>
          <a:lstStyle/>
          <a:p>
            <a:pPr>
              <a:lnSpc>
                <a:spcPts val="936"/>
              </a:lnSpc>
              <a:spcBef>
                <a:spcPts val="0"/>
              </a:spcBef>
              <a:spcAft>
                <a:spcPts val="0"/>
              </a:spcAft>
            </a:pPr>
            <a:r>
              <a:rPr sz="800" b="0">
                <a:solidFill>
                  <a:srgbClr val="647064"/>
                </a:solidFill>
                <a:latin typeface="Arial"/>
                <a:hlinkClick r:id="rId2"/>
              </a:rPr>
              <a:t>Evidence / source</a:t>
            </a:r>
          </a:p>
        </p:txBody>
      </p:sp>
      <p:sp>
        <p:nvSpPr>
          <p:cNvPr id="10" name="TextBox 9"/>
          <p:cNvSpPr txBox="1"/>
          <p:nvPr/>
        </p:nvSpPr>
        <p:spPr>
          <a:xfrm>
            <a:off x="482600" y="1054100"/>
            <a:ext cx="11226800" cy="1054100"/>
          </a:xfrm>
          <a:prstGeom prst="rect">
            <a:avLst/>
          </a:prstGeom>
          <a:noFill/>
        </p:spPr>
        <p:txBody>
          <a:bodyPr wrap="none" lIns="0" rIns="0" tIns="0" bIns="0" anchor="t">
            <a:spAutoFit/>
          </a:bodyPr>
          <a:lstStyle/>
          <a:p>
            <a:pPr>
              <a:lnSpc>
                <a:spcPts val="4000"/>
              </a:lnSpc>
              <a:spcBef>
                <a:spcPts val="0"/>
              </a:spcBef>
              <a:spcAft>
                <a:spcPts val="0"/>
              </a:spcAft>
            </a:pPr>
            <a:r>
              <a:rPr sz="3700" b="1">
                <a:solidFill>
                  <a:srgbClr val="27332C"/>
                </a:solidFill>
                <a:latin typeface="Arial"/>
              </a:rPr>
              <a:t>Save J7.</a:t>
            </a:r>
          </a:p>
          <a:p>
            <a:pPr>
              <a:lnSpc>
                <a:spcPts val="4000"/>
              </a:lnSpc>
              <a:spcBef>
                <a:spcPts val="0"/>
              </a:spcBef>
              <a:spcAft>
                <a:spcPts val="0"/>
              </a:spcAft>
            </a:pPr>
            <a:r>
              <a:rPr sz="3700" b="1">
                <a:solidFill>
                  <a:srgbClr val="27332C"/>
                </a:solidFill>
                <a:latin typeface="Arial"/>
              </a:rPr>
              <a:t>Show the cost.</a:t>
            </a:r>
          </a:p>
        </p:txBody>
      </p:sp>
      <p:sp>
        <p:nvSpPr>
          <p:cNvPr id="11" name="Rounded Rectangle 10"/>
          <p:cNvSpPr/>
          <p:nvPr/>
        </p:nvSpPr>
        <p:spPr>
          <a:xfrm>
            <a:off x="482600" y="2413000"/>
            <a:ext cx="5372100" cy="3187700"/>
          </a:xfrm>
          <a:prstGeom prst="roundRect">
            <a:avLst/>
          </a:prstGeom>
          <a:solidFill>
            <a:srgbClr val="E8EC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6600" y="2679700"/>
            <a:ext cx="4826000" cy="216408"/>
          </a:xfrm>
          <a:prstGeom prst="rect">
            <a:avLst/>
          </a:prstGeom>
          <a:noFill/>
        </p:spPr>
        <p:txBody>
          <a:bodyPr wrap="none" lIns="0" rIns="0" tIns="0" bIns="0" anchor="t">
            <a:spAutoFit/>
          </a:bodyPr>
          <a:lstStyle/>
          <a:p>
            <a:pPr>
              <a:lnSpc>
                <a:spcPts val="1404"/>
              </a:lnSpc>
              <a:spcBef>
                <a:spcPts val="0"/>
              </a:spcBef>
              <a:spcAft>
                <a:spcPts val="0"/>
              </a:spcAft>
            </a:pPr>
            <a:r>
              <a:rPr sz="1200" b="1">
                <a:solidFill>
                  <a:srgbClr val="647064"/>
                </a:solidFill>
                <a:latin typeface="Arial"/>
              </a:rPr>
              <a:t>KEEP ORIGINAL MACHINES</a:t>
            </a:r>
          </a:p>
        </p:txBody>
      </p:sp>
      <p:sp>
        <p:nvSpPr>
          <p:cNvPr id="13" name="TextBox 12"/>
          <p:cNvSpPr txBox="1"/>
          <p:nvPr/>
        </p:nvSpPr>
        <p:spPr>
          <a:xfrm>
            <a:off x="723900" y="3187700"/>
            <a:ext cx="4826000" cy="617600"/>
          </a:xfrm>
          <a:prstGeom prst="rect">
            <a:avLst/>
          </a:prstGeom>
          <a:noFill/>
        </p:spPr>
        <p:txBody>
          <a:bodyPr wrap="none" lIns="0" rIns="0" tIns="0" bIns="0" anchor="t">
            <a:spAutoFit/>
          </a:bodyPr>
          <a:lstStyle/>
          <a:p>
            <a:pPr>
              <a:lnSpc>
                <a:spcPts val="4563"/>
              </a:lnSpc>
              <a:spcBef>
                <a:spcPts val="0"/>
              </a:spcBef>
              <a:spcAft>
                <a:spcPts val="0"/>
              </a:spcAft>
            </a:pPr>
            <a:r>
              <a:rPr sz="3900" b="1">
                <a:solidFill>
                  <a:srgbClr val="D4532B"/>
                </a:solidFill>
                <a:latin typeface="Arial"/>
              </a:rPr>
              <a:t>Infeasible</a:t>
            </a:r>
          </a:p>
        </p:txBody>
      </p:sp>
      <p:sp>
        <p:nvSpPr>
          <p:cNvPr id="14" name="TextBox 13"/>
          <p:cNvSpPr txBox="1"/>
          <p:nvPr/>
        </p:nvSpPr>
        <p:spPr>
          <a:xfrm>
            <a:off x="736600" y="4000500"/>
            <a:ext cx="4648200" cy="632460"/>
          </a:xfrm>
          <a:prstGeom prst="rect">
            <a:avLst/>
          </a:prstGeom>
          <a:noFill/>
        </p:spPr>
        <p:txBody>
          <a:bodyPr wrap="none" lIns="0" rIns="0" tIns="0" bIns="0" anchor="t">
            <a:spAutoFit/>
          </a:bodyPr>
          <a:lstStyle/>
          <a:p>
            <a:pPr>
              <a:lnSpc>
                <a:spcPts val="2340"/>
              </a:lnSpc>
              <a:spcBef>
                <a:spcPts val="0"/>
              </a:spcBef>
              <a:spcAft>
                <a:spcPts val="0"/>
              </a:spcAft>
            </a:pPr>
            <a:r>
              <a:rPr sz="2000" b="0">
                <a:solidFill>
                  <a:srgbClr val="27332C"/>
                </a:solidFill>
                <a:latin typeface="Arial"/>
              </a:rPr>
              <a:t>J7’s hard deadline cannot be met</a:t>
            </a:r>
          </a:p>
          <a:p>
            <a:pPr>
              <a:lnSpc>
                <a:spcPts val="2340"/>
              </a:lnSpc>
              <a:spcBef>
                <a:spcPts val="0"/>
              </a:spcBef>
              <a:spcAft>
                <a:spcPts val="0"/>
              </a:spcAft>
            </a:pPr>
            <a:r>
              <a:rPr sz="2000" b="0">
                <a:solidFill>
                  <a:srgbClr val="27332C"/>
                </a:solidFill>
                <a:latin typeface="Arial"/>
              </a:rPr>
              <a:t>under this policy.</a:t>
            </a:r>
          </a:p>
        </p:txBody>
      </p:sp>
      <p:sp>
        <p:nvSpPr>
          <p:cNvPr id="15" name="TextBox 14"/>
          <p:cNvSpPr txBox="1"/>
          <p:nvPr/>
        </p:nvSpPr>
        <p:spPr>
          <a:xfrm>
            <a:off x="736600" y="5003800"/>
            <a:ext cx="4660900" cy="246126"/>
          </a:xfrm>
          <a:prstGeom prst="rect">
            <a:avLst/>
          </a:prstGeom>
          <a:noFill/>
        </p:spPr>
        <p:txBody>
          <a:bodyPr wrap="none" lIns="0" rIns="0" tIns="0" bIns="0" anchor="t">
            <a:spAutoFit/>
          </a:bodyPr>
          <a:lstStyle/>
          <a:p>
            <a:pPr>
              <a:lnSpc>
                <a:spcPts val="1638"/>
              </a:lnSpc>
              <a:spcBef>
                <a:spcPts val="0"/>
              </a:spcBef>
              <a:spcAft>
                <a:spcPts val="0"/>
              </a:spcAft>
            </a:pPr>
            <a:r>
              <a:rPr sz="1400" b="0">
                <a:solidFill>
                  <a:srgbClr val="647064"/>
                </a:solidFill>
                <a:latin typeface="Arial"/>
              </a:rPr>
              <a:t>The hard date is not silently moved.</a:t>
            </a:r>
          </a:p>
        </p:txBody>
      </p:sp>
      <p:sp>
        <p:nvSpPr>
          <p:cNvPr id="16" name="Rounded Rectangle 15"/>
          <p:cNvSpPr/>
          <p:nvPr/>
        </p:nvSpPr>
        <p:spPr>
          <a:xfrm>
            <a:off x="6134100" y="2413000"/>
            <a:ext cx="5575300" cy="3187700"/>
          </a:xfrm>
          <a:prstGeom prst="roundRect">
            <a:avLst/>
          </a:prstGeom>
          <a:solidFill>
            <a:srgbClr val="2733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2679700"/>
            <a:ext cx="4965700" cy="216408"/>
          </a:xfrm>
          <a:prstGeom prst="rect">
            <a:avLst/>
          </a:prstGeom>
          <a:noFill/>
        </p:spPr>
        <p:txBody>
          <a:bodyPr wrap="none" lIns="0" rIns="0" tIns="0" bIns="0" anchor="t">
            <a:spAutoFit/>
          </a:bodyPr>
          <a:lstStyle/>
          <a:p>
            <a:pPr>
              <a:lnSpc>
                <a:spcPts val="1404"/>
              </a:lnSpc>
              <a:spcBef>
                <a:spcPts val="0"/>
              </a:spcBef>
              <a:spcAft>
                <a:spcPts val="0"/>
              </a:spcAft>
            </a:pPr>
            <a:r>
              <a:rPr sz="1200" b="1">
                <a:solidFill>
                  <a:srgbClr val="CFD6C9"/>
                </a:solidFill>
                <a:latin typeface="Arial"/>
              </a:rPr>
              <a:t>RE-ROUTE TO QUALIFIED MACHINES</a:t>
            </a:r>
          </a:p>
        </p:txBody>
      </p:sp>
      <p:sp>
        <p:nvSpPr>
          <p:cNvPr id="18" name="TextBox 17"/>
          <p:cNvSpPr txBox="1"/>
          <p:nvPr/>
        </p:nvSpPr>
        <p:spPr>
          <a:xfrm>
            <a:off x="6375400" y="3187700"/>
            <a:ext cx="4965700" cy="617600"/>
          </a:xfrm>
          <a:prstGeom prst="rect">
            <a:avLst/>
          </a:prstGeom>
          <a:noFill/>
        </p:spPr>
        <p:txBody>
          <a:bodyPr wrap="none" lIns="0" rIns="0" tIns="0" bIns="0" anchor="t">
            <a:spAutoFit/>
          </a:bodyPr>
          <a:lstStyle/>
          <a:p>
            <a:pPr>
              <a:lnSpc>
                <a:spcPts val="4563"/>
              </a:lnSpc>
              <a:spcBef>
                <a:spcPts val="0"/>
              </a:spcBef>
              <a:spcAft>
                <a:spcPts val="0"/>
              </a:spcAft>
            </a:pPr>
            <a:r>
              <a:rPr sz="3900" b="1">
                <a:solidFill>
                  <a:srgbClr val="FFFFFF"/>
                </a:solidFill>
                <a:latin typeface="Arial"/>
              </a:rPr>
              <a:t>J7 on time</a:t>
            </a:r>
          </a:p>
        </p:txBody>
      </p:sp>
      <p:sp>
        <p:nvSpPr>
          <p:cNvPr id="19" name="TextBox 18"/>
          <p:cNvSpPr txBox="1"/>
          <p:nvPr/>
        </p:nvSpPr>
        <p:spPr>
          <a:xfrm>
            <a:off x="6400800" y="4000500"/>
            <a:ext cx="4826000" cy="409575"/>
          </a:xfrm>
          <a:prstGeom prst="rect">
            <a:avLst/>
          </a:prstGeom>
          <a:noFill/>
        </p:spPr>
        <p:txBody>
          <a:bodyPr wrap="none" lIns="0" rIns="0" tIns="0" bIns="0" anchor="t">
            <a:spAutoFit/>
          </a:bodyPr>
          <a:lstStyle/>
          <a:p>
            <a:pPr>
              <a:lnSpc>
                <a:spcPts val="2925"/>
              </a:lnSpc>
              <a:spcBef>
                <a:spcPts val="0"/>
              </a:spcBef>
              <a:spcAft>
                <a:spcPts val="0"/>
              </a:spcAft>
            </a:pPr>
            <a:r>
              <a:rPr sz="2500" b="1">
                <a:solidFill>
                  <a:srgbClr val="F5B49A"/>
                </a:solidFill>
                <a:latin typeface="Arial"/>
              </a:rPr>
              <a:t>J2: 190 minutes late</a:t>
            </a:r>
          </a:p>
        </p:txBody>
      </p:sp>
      <p:sp>
        <p:nvSpPr>
          <p:cNvPr id="20" name="TextBox 19"/>
          <p:cNvSpPr txBox="1"/>
          <p:nvPr/>
        </p:nvSpPr>
        <p:spPr>
          <a:xfrm>
            <a:off x="6400800" y="4991100"/>
            <a:ext cx="4864100" cy="231267"/>
          </a:xfrm>
          <a:prstGeom prst="rect">
            <a:avLst/>
          </a:prstGeom>
          <a:noFill/>
        </p:spPr>
        <p:txBody>
          <a:bodyPr wrap="none" lIns="0" rIns="0" tIns="0" bIns="0" anchor="t">
            <a:spAutoFit/>
          </a:bodyPr>
          <a:lstStyle/>
          <a:p>
            <a:pPr>
              <a:lnSpc>
                <a:spcPts val="1521"/>
              </a:lnSpc>
              <a:spcBef>
                <a:spcPts val="0"/>
              </a:spcBef>
              <a:spcAft>
                <a:spcPts val="0"/>
              </a:spcAft>
            </a:pPr>
            <a:r>
              <a:rPr sz="1300" b="0">
                <a:solidFill>
                  <a:srgbClr val="CFD6C9"/>
                </a:solidFill>
                <a:latin typeface="Arial"/>
              </a:rPr>
              <a:t>0 overtime minutes · Independent checker passed</a:t>
            </a:r>
          </a:p>
        </p:txBody>
      </p:sp>
      <p:sp>
        <p:nvSpPr>
          <p:cNvPr id="21" name="TextBox 20"/>
          <p:cNvSpPr txBox="1"/>
          <p:nvPr/>
        </p:nvSpPr>
        <p:spPr>
          <a:xfrm>
            <a:off x="520700" y="5765800"/>
            <a:ext cx="10998200" cy="290703"/>
          </a:xfrm>
          <a:prstGeom prst="rect">
            <a:avLst/>
          </a:prstGeom>
          <a:noFill/>
        </p:spPr>
        <p:txBody>
          <a:bodyPr wrap="none" lIns="0" rIns="0" tIns="0" bIns="0" anchor="t">
            <a:spAutoFit/>
          </a:bodyPr>
          <a:lstStyle/>
          <a:p>
            <a:pPr>
              <a:lnSpc>
                <a:spcPts val="1989"/>
              </a:lnSpc>
              <a:spcBef>
                <a:spcPts val="0"/>
              </a:spcBef>
              <a:spcAft>
                <a:spcPts val="0"/>
              </a:spcAft>
            </a:pPr>
            <a:r>
              <a:rPr sz="1700" b="0">
                <a:solidFill>
                  <a:srgbClr val="27332C"/>
                </a:solidFill>
                <a:latin typeface="Arial"/>
              </a:rPr>
              <a:t>That late delivery is an explicit concession for a person to approve.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6EF"/>
        </a:solidFill>
        <a:effectLst/>
      </p:bgPr>
    </p:bg>
    <p:spTree>
      <p:nvGrpSpPr>
        <p:cNvPr id="1" name=""/>
        <p:cNvGrpSpPr/>
        <p:nvPr/>
      </p:nvGrpSpPr>
      <p:grpSpPr/>
      <p:sp>
        <p:nvSpPr>
          <p:cNvPr id="2" name="Rectangle 1"/>
          <p:cNvSpPr/>
          <p:nvPr/>
        </p:nvSpPr>
        <p:spPr>
          <a:xfrm>
            <a:off x="482600" y="508000"/>
            <a:ext cx="50800" cy="152400"/>
          </a:xfrm>
          <a:prstGeom prst="rect">
            <a:avLst/>
          </a:prstGeom>
          <a:solidFill>
            <a:srgbClr val="D45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71500" y="406400"/>
            <a:ext cx="50800" cy="254000"/>
          </a:xfrm>
          <a:prstGeom prst="rect">
            <a:avLst/>
          </a:prstGeom>
          <a:solidFill>
            <a:srgbClr val="D45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60400" y="317500"/>
            <a:ext cx="50800" cy="342900"/>
          </a:xfrm>
          <a:prstGeom prst="rect">
            <a:avLst/>
          </a:prstGeom>
          <a:solidFill>
            <a:srgbClr val="D45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3600" y="368300"/>
            <a:ext cx="2286000" cy="216408"/>
          </a:xfrm>
          <a:prstGeom prst="rect">
            <a:avLst/>
          </a:prstGeom>
          <a:noFill/>
        </p:spPr>
        <p:txBody>
          <a:bodyPr wrap="none" lIns="0" rIns="0" tIns="0" bIns="0" anchor="t">
            <a:spAutoFit/>
          </a:bodyPr>
          <a:lstStyle/>
          <a:p>
            <a:pPr>
              <a:lnSpc>
                <a:spcPts val="1404"/>
              </a:lnSpc>
              <a:spcBef>
                <a:spcPts val="0"/>
              </a:spcBef>
              <a:spcAft>
                <a:spcPts val="0"/>
              </a:spcAft>
            </a:pPr>
            <a:r>
              <a:rPr sz="1200" b="1">
                <a:solidFill>
                  <a:srgbClr val="27332C"/>
                </a:solidFill>
                <a:latin typeface="Arial"/>
              </a:rPr>
              <a:t>REHEARSAL</a:t>
            </a:r>
          </a:p>
        </p:txBody>
      </p:sp>
      <p:sp>
        <p:nvSpPr>
          <p:cNvPr id="6" name="TextBox 5"/>
          <p:cNvSpPr txBox="1"/>
          <p:nvPr/>
        </p:nvSpPr>
        <p:spPr>
          <a:xfrm>
            <a:off x="5334000" y="381000"/>
            <a:ext cx="6223000" cy="186690"/>
          </a:xfrm>
          <a:prstGeom prst="rect">
            <a:avLst/>
          </a:prstGeom>
          <a:noFill/>
        </p:spPr>
        <p:txBody>
          <a:bodyPr wrap="none" lIns="0" rIns="0" tIns="0" bIns="0" anchor="t">
            <a:spAutoFit/>
          </a:bodyPr>
          <a:lstStyle/>
          <a:p>
            <a:pPr>
              <a:lnSpc>
                <a:spcPts val="1170"/>
              </a:lnSpc>
              <a:spcBef>
                <a:spcPts val="0"/>
              </a:spcBef>
              <a:spcAft>
                <a:spcPts val="0"/>
              </a:spcAft>
            </a:pPr>
            <a:r>
              <a:rPr sz="1000" b="0">
                <a:solidFill>
                  <a:srgbClr val="647064"/>
                </a:solidFill>
                <a:latin typeface="Arial"/>
              </a:rPr>
              <a:t>REHEARSE BEFORE COMMITTING</a:t>
            </a:r>
          </a:p>
        </p:txBody>
      </p:sp>
      <p:sp>
        <p:nvSpPr>
          <p:cNvPr id="7" name="TextBox 6"/>
          <p:cNvSpPr txBox="1"/>
          <p:nvPr/>
        </p:nvSpPr>
        <p:spPr>
          <a:xfrm>
            <a:off x="482600" y="6515100"/>
            <a:ext cx="7620000" cy="156972"/>
          </a:xfrm>
          <a:prstGeom prst="rect">
            <a:avLst/>
          </a:prstGeom>
          <a:noFill/>
        </p:spPr>
        <p:txBody>
          <a:bodyPr wrap="none" lIns="0" rIns="0" tIns="0" bIns="0" anchor="t">
            <a:spAutoFit/>
          </a:bodyPr>
          <a:lstStyle/>
          <a:p>
            <a:pPr>
              <a:lnSpc>
                <a:spcPts val="936"/>
              </a:lnSpc>
              <a:spcBef>
                <a:spcPts val="0"/>
              </a:spcBef>
              <a:spcAft>
                <a:spcPts val="0"/>
              </a:spcAft>
            </a:pPr>
            <a:r>
              <a:rPr sz="800" b="0">
                <a:solidFill>
                  <a:srgbClr val="647064"/>
                </a:solidFill>
                <a:latin typeface="Arial"/>
              </a:rPr>
              <a:t>FORGE AHEAD / AMD DEVELOPER HACKATHON: ACT III</a:t>
            </a:r>
          </a:p>
        </p:txBody>
      </p:sp>
      <p:sp>
        <p:nvSpPr>
          <p:cNvPr id="8" name="TextBox 7"/>
          <p:cNvSpPr txBox="1"/>
          <p:nvPr/>
        </p:nvSpPr>
        <p:spPr>
          <a:xfrm>
            <a:off x="11353800" y="6489700"/>
            <a:ext cx="381000" cy="186690"/>
          </a:xfrm>
          <a:prstGeom prst="rect">
            <a:avLst/>
          </a:prstGeom>
          <a:noFill/>
        </p:spPr>
        <p:txBody>
          <a:bodyPr wrap="none" lIns="0" rIns="0" tIns="0" bIns="0" anchor="t">
            <a:spAutoFit/>
          </a:bodyPr>
          <a:lstStyle/>
          <a:p>
            <a:pPr>
              <a:lnSpc>
                <a:spcPts val="1170"/>
              </a:lnSpc>
              <a:spcBef>
                <a:spcPts val="0"/>
              </a:spcBef>
              <a:spcAft>
                <a:spcPts val="0"/>
              </a:spcAft>
            </a:pPr>
            <a:r>
              <a:rPr sz="1000" b="0">
                <a:solidFill>
                  <a:srgbClr val="647064"/>
                </a:solidFill>
                <a:latin typeface="Arial"/>
              </a:rPr>
              <a:t>05</a:t>
            </a:r>
          </a:p>
        </p:txBody>
      </p:sp>
      <p:sp>
        <p:nvSpPr>
          <p:cNvPr id="9" name="TextBox 8"/>
          <p:cNvSpPr txBox="1"/>
          <p:nvPr/>
        </p:nvSpPr>
        <p:spPr>
          <a:xfrm>
            <a:off x="482600" y="6223000"/>
            <a:ext cx="10160000" cy="156972"/>
          </a:xfrm>
          <a:prstGeom prst="rect">
            <a:avLst/>
          </a:prstGeom>
          <a:noFill/>
        </p:spPr>
        <p:txBody>
          <a:bodyPr wrap="none" lIns="0" rIns="0" tIns="0" bIns="0" anchor="t">
            <a:spAutoFit/>
          </a:bodyPr>
          <a:lstStyle/>
          <a:p>
            <a:pPr>
              <a:lnSpc>
                <a:spcPts val="936"/>
              </a:lnSpc>
              <a:spcBef>
                <a:spcPts val="0"/>
              </a:spcBef>
              <a:spcAft>
                <a:spcPts val="0"/>
              </a:spcAft>
            </a:pPr>
            <a:r>
              <a:rPr sz="800" b="0">
                <a:solidFill>
                  <a:srgbClr val="647064"/>
                </a:solidFill>
                <a:latin typeface="Arial"/>
                <a:hlinkClick r:id="rId2"/>
              </a:rPr>
              <a:t>Evidence / source</a:t>
            </a:r>
          </a:p>
        </p:txBody>
      </p:sp>
      <p:sp>
        <p:nvSpPr>
          <p:cNvPr id="10" name="TextBox 9"/>
          <p:cNvSpPr txBox="1"/>
          <p:nvPr/>
        </p:nvSpPr>
        <p:spPr>
          <a:xfrm>
            <a:off x="482600" y="1054100"/>
            <a:ext cx="11226800" cy="1054100"/>
          </a:xfrm>
          <a:prstGeom prst="rect">
            <a:avLst/>
          </a:prstGeom>
          <a:noFill/>
        </p:spPr>
        <p:txBody>
          <a:bodyPr wrap="none" lIns="0" rIns="0" tIns="0" bIns="0" anchor="t">
            <a:spAutoFit/>
          </a:bodyPr>
          <a:lstStyle/>
          <a:p>
            <a:pPr>
              <a:lnSpc>
                <a:spcPts val="4000"/>
              </a:lnSpc>
              <a:spcBef>
                <a:spcPts val="0"/>
              </a:spcBef>
              <a:spcAft>
                <a:spcPts val="0"/>
              </a:spcAft>
            </a:pPr>
            <a:r>
              <a:rPr sz="3700" b="1">
                <a:solidFill>
                  <a:srgbClr val="27332C"/>
                </a:solidFill>
                <a:latin typeface="Arial"/>
              </a:rPr>
              <a:t>On paper, on time.</a:t>
            </a:r>
          </a:p>
          <a:p>
            <a:pPr>
              <a:lnSpc>
                <a:spcPts val="4000"/>
              </a:lnSpc>
              <a:spcBef>
                <a:spcPts val="0"/>
              </a:spcBef>
              <a:spcAft>
                <a:spcPts val="0"/>
              </a:spcAft>
            </a:pPr>
            <a:r>
              <a:rPr sz="3700" b="1">
                <a:solidFill>
                  <a:srgbClr val="27332C"/>
                </a:solidFill>
                <a:latin typeface="Arial"/>
              </a:rPr>
              <a:t>In rehearsal, exposed.</a:t>
            </a:r>
          </a:p>
        </p:txBody>
      </p:sp>
      <p:sp>
        <p:nvSpPr>
          <p:cNvPr id="11" name="TextBox 10"/>
          <p:cNvSpPr txBox="1"/>
          <p:nvPr/>
        </p:nvSpPr>
        <p:spPr>
          <a:xfrm>
            <a:off x="508000" y="2425700"/>
            <a:ext cx="2286000" cy="275844"/>
          </a:xfrm>
          <a:prstGeom prst="rect">
            <a:avLst/>
          </a:prstGeom>
          <a:noFill/>
        </p:spPr>
        <p:txBody>
          <a:bodyPr wrap="none" lIns="0" rIns="0" tIns="0" bIns="0" anchor="t">
            <a:spAutoFit/>
          </a:bodyPr>
          <a:lstStyle/>
          <a:p>
            <a:pPr>
              <a:lnSpc>
                <a:spcPts val="1872"/>
              </a:lnSpc>
              <a:spcBef>
                <a:spcPts val="0"/>
              </a:spcBef>
              <a:spcAft>
                <a:spcPts val="0"/>
              </a:spcAft>
            </a:pPr>
            <a:r>
              <a:rPr sz="1600" b="1">
                <a:solidFill>
                  <a:srgbClr val="647064"/>
                </a:solidFill>
                <a:latin typeface="Arial"/>
              </a:rPr>
              <a:t>J4</a:t>
            </a:r>
          </a:p>
        </p:txBody>
      </p:sp>
      <p:sp>
        <p:nvSpPr>
          <p:cNvPr id="12" name="TextBox 11"/>
          <p:cNvSpPr txBox="1"/>
          <p:nvPr/>
        </p:nvSpPr>
        <p:spPr>
          <a:xfrm>
            <a:off x="469899" y="2768600"/>
            <a:ext cx="5270500" cy="1003935"/>
          </a:xfrm>
          <a:prstGeom prst="rect">
            <a:avLst/>
          </a:prstGeom>
          <a:noFill/>
        </p:spPr>
        <p:txBody>
          <a:bodyPr wrap="none" lIns="0" rIns="0" tIns="0" bIns="0" anchor="t">
            <a:spAutoFit/>
          </a:bodyPr>
          <a:lstStyle/>
          <a:p>
            <a:pPr>
              <a:lnSpc>
                <a:spcPts val="7605"/>
              </a:lnSpc>
              <a:spcBef>
                <a:spcPts val="0"/>
              </a:spcBef>
              <a:spcAft>
                <a:spcPts val="0"/>
              </a:spcAft>
            </a:pPr>
            <a:r>
              <a:rPr sz="6500" b="1">
                <a:solidFill>
                  <a:srgbClr val="D4532B"/>
                </a:solidFill>
                <a:latin typeface="Arial"/>
              </a:rPr>
              <a:t>239 / 500</a:t>
            </a:r>
          </a:p>
        </p:txBody>
      </p:sp>
      <p:sp>
        <p:nvSpPr>
          <p:cNvPr id="13" name="TextBox 12"/>
          <p:cNvSpPr txBox="1"/>
          <p:nvPr/>
        </p:nvSpPr>
        <p:spPr>
          <a:xfrm>
            <a:off x="520700" y="3822700"/>
            <a:ext cx="5257800" cy="320420"/>
          </a:xfrm>
          <a:prstGeom prst="rect">
            <a:avLst/>
          </a:prstGeom>
          <a:noFill/>
        </p:spPr>
        <p:txBody>
          <a:bodyPr wrap="none" lIns="0" rIns="0" tIns="0" bIns="0" anchor="t">
            <a:spAutoFit/>
          </a:bodyPr>
          <a:lstStyle/>
          <a:p>
            <a:pPr>
              <a:lnSpc>
                <a:spcPts val="2222"/>
              </a:lnSpc>
              <a:spcBef>
                <a:spcPts val="0"/>
              </a:spcBef>
              <a:spcAft>
                <a:spcPts val="0"/>
              </a:spcAft>
            </a:pPr>
            <a:r>
              <a:rPr sz="1900" b="0">
                <a:solidFill>
                  <a:srgbClr val="27332C"/>
                </a:solidFill>
                <a:latin typeface="Arial"/>
              </a:rPr>
              <a:t>simulated scenarios finish on time</a:t>
            </a:r>
          </a:p>
        </p:txBody>
      </p:sp>
      <p:sp>
        <p:nvSpPr>
          <p:cNvPr id="14" name="Rectangle 13"/>
          <p:cNvSpPr/>
          <p:nvPr/>
        </p:nvSpPr>
        <p:spPr>
          <a:xfrm>
            <a:off x="508000" y="4356100"/>
            <a:ext cx="5054600" cy="304800"/>
          </a:xfrm>
          <a:prstGeom prst="rect">
            <a:avLst/>
          </a:prstGeom>
          <a:solidFill>
            <a:srgbClr val="E5D0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08000" y="4356100"/>
            <a:ext cx="2416098" cy="304800"/>
          </a:xfrm>
          <a:prstGeom prst="rect">
            <a:avLst/>
          </a:prstGeom>
          <a:solidFill>
            <a:srgbClr val="C8CA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8000" y="4914900"/>
            <a:ext cx="5461000" cy="305562"/>
          </a:xfrm>
          <a:prstGeom prst="rect">
            <a:avLst/>
          </a:prstGeom>
          <a:noFill/>
        </p:spPr>
        <p:txBody>
          <a:bodyPr wrap="none" lIns="0" rIns="0" tIns="0" bIns="0" anchor="t">
            <a:spAutoFit/>
          </a:bodyPr>
          <a:lstStyle/>
          <a:p>
            <a:pPr>
              <a:lnSpc>
                <a:spcPts val="2106"/>
              </a:lnSpc>
              <a:spcBef>
                <a:spcPts val="0"/>
              </a:spcBef>
              <a:spcAft>
                <a:spcPts val="0"/>
              </a:spcAft>
            </a:pPr>
            <a:r>
              <a:rPr sz="1800" b="1">
                <a:solidFill>
                  <a:srgbClr val="27332C"/>
                </a:solidFill>
                <a:latin typeface="Arial"/>
              </a:rPr>
              <a:t>Planned finish: 16:35 · Due: 17:00</a:t>
            </a:r>
          </a:p>
        </p:txBody>
      </p:sp>
      <p:sp>
        <p:nvSpPr>
          <p:cNvPr id="17" name="Rounded Rectangle 16"/>
          <p:cNvSpPr/>
          <p:nvPr/>
        </p:nvSpPr>
        <p:spPr>
          <a:xfrm>
            <a:off x="6210300" y="2438400"/>
            <a:ext cx="5499100" cy="2844800"/>
          </a:xfrm>
          <a:prstGeom prst="roundRect">
            <a:avLst/>
          </a:prstGeom>
          <a:solidFill>
            <a:srgbClr val="2733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77000" y="2692400"/>
            <a:ext cx="4927600" cy="216408"/>
          </a:xfrm>
          <a:prstGeom prst="rect">
            <a:avLst/>
          </a:prstGeom>
          <a:noFill/>
        </p:spPr>
        <p:txBody>
          <a:bodyPr wrap="none" lIns="0" rIns="0" tIns="0" bIns="0" anchor="t">
            <a:spAutoFit/>
          </a:bodyPr>
          <a:lstStyle/>
          <a:p>
            <a:pPr>
              <a:lnSpc>
                <a:spcPts val="1404"/>
              </a:lnSpc>
              <a:spcBef>
                <a:spcPts val="0"/>
              </a:spcBef>
              <a:spcAft>
                <a:spcPts val="0"/>
              </a:spcAft>
            </a:pPr>
            <a:r>
              <a:rPr sz="1200" b="1">
                <a:solidFill>
                  <a:srgbClr val="CFD6C9"/>
                </a:solidFill>
                <a:latin typeface="Arial"/>
              </a:rPr>
              <a:t>A CONCRETE COUNTEREXAMPLE</a:t>
            </a:r>
          </a:p>
        </p:txBody>
      </p:sp>
      <p:sp>
        <p:nvSpPr>
          <p:cNvPr id="19" name="TextBox 18"/>
          <p:cNvSpPr txBox="1"/>
          <p:nvPr/>
        </p:nvSpPr>
        <p:spPr>
          <a:xfrm>
            <a:off x="6464300" y="3124200"/>
            <a:ext cx="4826000" cy="439292"/>
          </a:xfrm>
          <a:prstGeom prst="rect">
            <a:avLst/>
          </a:prstGeom>
          <a:noFill/>
        </p:spPr>
        <p:txBody>
          <a:bodyPr wrap="none" lIns="0" rIns="0" tIns="0" bIns="0" anchor="t">
            <a:spAutoFit/>
          </a:bodyPr>
          <a:lstStyle/>
          <a:p>
            <a:pPr>
              <a:lnSpc>
                <a:spcPts val="3158"/>
              </a:lnSpc>
              <a:spcBef>
                <a:spcPts val="0"/>
              </a:spcBef>
              <a:spcAft>
                <a:spcPts val="0"/>
              </a:spcAft>
            </a:pPr>
            <a:r>
              <a:rPr sz="2700" b="1">
                <a:solidFill>
                  <a:srgbClr val="FFFFFF"/>
                </a:solidFill>
                <a:latin typeface="Arial"/>
              </a:rPr>
              <a:t>Sampled future #24</a:t>
            </a:r>
          </a:p>
        </p:txBody>
      </p:sp>
      <p:sp>
        <p:nvSpPr>
          <p:cNvPr id="20" name="TextBox 19"/>
          <p:cNvSpPr txBox="1"/>
          <p:nvPr/>
        </p:nvSpPr>
        <p:spPr>
          <a:xfrm>
            <a:off x="6477000" y="3759199"/>
            <a:ext cx="4851400" cy="379856"/>
          </a:xfrm>
          <a:prstGeom prst="rect">
            <a:avLst/>
          </a:prstGeom>
          <a:noFill/>
        </p:spPr>
        <p:txBody>
          <a:bodyPr wrap="none" lIns="0" rIns="0" tIns="0" bIns="0" anchor="t">
            <a:spAutoFit/>
          </a:bodyPr>
          <a:lstStyle/>
          <a:p>
            <a:pPr>
              <a:lnSpc>
                <a:spcPts val="2690"/>
              </a:lnSpc>
              <a:spcBef>
                <a:spcPts val="0"/>
              </a:spcBef>
              <a:spcAft>
                <a:spcPts val="0"/>
              </a:spcAft>
            </a:pPr>
            <a:r>
              <a:rPr sz="2300" b="1">
                <a:solidFill>
                  <a:srgbClr val="F5B49A"/>
                </a:solidFill>
                <a:latin typeface="Arial"/>
              </a:rPr>
              <a:t>J4 finishes at 18:01</a:t>
            </a:r>
          </a:p>
        </p:txBody>
      </p:sp>
      <p:sp>
        <p:nvSpPr>
          <p:cNvPr id="21" name="TextBox 20"/>
          <p:cNvSpPr txBox="1"/>
          <p:nvPr/>
        </p:nvSpPr>
        <p:spPr>
          <a:xfrm>
            <a:off x="6477000" y="4356100"/>
            <a:ext cx="4902200" cy="543306"/>
          </a:xfrm>
          <a:prstGeom prst="rect">
            <a:avLst/>
          </a:prstGeom>
          <a:noFill/>
        </p:spPr>
        <p:txBody>
          <a:bodyPr wrap="none" lIns="0" rIns="0" tIns="0" bIns="0" anchor="t">
            <a:spAutoFit/>
          </a:bodyPr>
          <a:lstStyle/>
          <a:p>
            <a:pPr>
              <a:lnSpc>
                <a:spcPts val="1989"/>
              </a:lnSpc>
              <a:spcBef>
                <a:spcPts val="0"/>
              </a:spcBef>
              <a:spcAft>
                <a:spcPts val="0"/>
              </a:spcAft>
            </a:pPr>
            <a:r>
              <a:rPr sz="1700" b="0">
                <a:solidFill>
                  <a:srgbClr val="FFFFFF"/>
                </a:solidFill>
                <a:latin typeface="Arial"/>
              </a:rPr>
              <a:t>61 minutes late. Its M1 operation waits</a:t>
            </a:r>
          </a:p>
          <a:p>
            <a:pPr>
              <a:lnSpc>
                <a:spcPts val="1989"/>
              </a:lnSpc>
              <a:spcBef>
                <a:spcPts val="0"/>
              </a:spcBef>
              <a:spcAft>
                <a:spcPts val="0"/>
              </a:spcAft>
            </a:pPr>
            <a:r>
              <a:rPr sz="1700" b="0">
                <a:solidFill>
                  <a:srgbClr val="FFFFFF"/>
                </a:solidFill>
                <a:latin typeface="Arial"/>
              </a:rPr>
              <a:t>70 minutes longer than planned.</a:t>
            </a:r>
          </a:p>
        </p:txBody>
      </p:sp>
      <p:sp>
        <p:nvSpPr>
          <p:cNvPr id="22" name="TextBox 21"/>
          <p:cNvSpPr txBox="1"/>
          <p:nvPr/>
        </p:nvSpPr>
        <p:spPr>
          <a:xfrm>
            <a:off x="508000" y="5638800"/>
            <a:ext cx="11176000" cy="231267"/>
          </a:xfrm>
          <a:prstGeom prst="rect">
            <a:avLst/>
          </a:prstGeom>
          <a:noFill/>
        </p:spPr>
        <p:txBody>
          <a:bodyPr wrap="none" lIns="0" rIns="0" tIns="0" bIns="0" anchor="t">
            <a:spAutoFit/>
          </a:bodyPr>
          <a:lstStyle/>
          <a:p>
            <a:pPr>
              <a:lnSpc>
                <a:spcPts val="1521"/>
              </a:lnSpc>
              <a:spcBef>
                <a:spcPts val="0"/>
              </a:spcBef>
              <a:spcAft>
                <a:spcPts val="0"/>
              </a:spcAft>
            </a:pPr>
            <a:r>
              <a:rPr sz="1300" b="0">
                <a:solidFill>
                  <a:srgbClr val="647064"/>
                </a:solidFill>
                <a:latin typeface="Arial"/>
              </a:rPr>
              <a:t>500 samples · seed 7 · duration factors 0.9–1.3 · repairs 0–90 min late</a:t>
            </a:r>
          </a:p>
        </p:txBody>
      </p:sp>
      <p:sp>
        <p:nvSpPr>
          <p:cNvPr id="23" name="TextBox 22"/>
          <p:cNvSpPr txBox="1"/>
          <p:nvPr/>
        </p:nvSpPr>
        <p:spPr>
          <a:xfrm>
            <a:off x="508000" y="5930900"/>
            <a:ext cx="11176000" cy="216408"/>
          </a:xfrm>
          <a:prstGeom prst="rect">
            <a:avLst/>
          </a:prstGeom>
          <a:noFill/>
        </p:spPr>
        <p:txBody>
          <a:bodyPr wrap="none" lIns="0" rIns="0" tIns="0" bIns="0" anchor="t">
            <a:spAutoFit/>
          </a:bodyPr>
          <a:lstStyle/>
          <a:p>
            <a:pPr>
              <a:lnSpc>
                <a:spcPts val="1404"/>
              </a:lnSpc>
              <a:spcBef>
                <a:spcPts val="0"/>
              </a:spcBef>
              <a:spcAft>
                <a:spcPts val="0"/>
              </a:spcAft>
            </a:pPr>
            <a:r>
              <a:rPr sz="1200" b="0">
                <a:solidFill>
                  <a:srgbClr val="647064"/>
                </a:solidFill>
                <a:latin typeface="Arial"/>
              </a:rPr>
              <a:t>Synthetic uncertainty; these counts are not measured factory reliability.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6EF"/>
        </a:solidFill>
        <a:effectLst/>
      </p:bgPr>
    </p:bg>
    <p:spTree>
      <p:nvGrpSpPr>
        <p:cNvPr id="1" name=""/>
        <p:cNvGrpSpPr/>
        <p:nvPr/>
      </p:nvGrpSpPr>
      <p:grpSpPr/>
      <p:sp>
        <p:nvSpPr>
          <p:cNvPr id="2" name="Rectangle 1"/>
          <p:cNvSpPr/>
          <p:nvPr/>
        </p:nvSpPr>
        <p:spPr>
          <a:xfrm>
            <a:off x="482600" y="508000"/>
            <a:ext cx="50800" cy="152400"/>
          </a:xfrm>
          <a:prstGeom prst="rect">
            <a:avLst/>
          </a:prstGeom>
          <a:solidFill>
            <a:srgbClr val="D45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71500" y="406400"/>
            <a:ext cx="50800" cy="254000"/>
          </a:xfrm>
          <a:prstGeom prst="rect">
            <a:avLst/>
          </a:prstGeom>
          <a:solidFill>
            <a:srgbClr val="D45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60400" y="317500"/>
            <a:ext cx="50800" cy="342900"/>
          </a:xfrm>
          <a:prstGeom prst="rect">
            <a:avLst/>
          </a:prstGeom>
          <a:solidFill>
            <a:srgbClr val="D45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3600" y="368300"/>
            <a:ext cx="2286000" cy="216408"/>
          </a:xfrm>
          <a:prstGeom prst="rect">
            <a:avLst/>
          </a:prstGeom>
          <a:noFill/>
        </p:spPr>
        <p:txBody>
          <a:bodyPr wrap="none" lIns="0" rIns="0" tIns="0" bIns="0" anchor="t">
            <a:spAutoFit/>
          </a:bodyPr>
          <a:lstStyle/>
          <a:p>
            <a:pPr>
              <a:lnSpc>
                <a:spcPts val="1404"/>
              </a:lnSpc>
              <a:spcBef>
                <a:spcPts val="0"/>
              </a:spcBef>
              <a:spcAft>
                <a:spcPts val="0"/>
              </a:spcAft>
            </a:pPr>
            <a:r>
              <a:rPr sz="1200" b="1">
                <a:solidFill>
                  <a:srgbClr val="27332C"/>
                </a:solidFill>
                <a:latin typeface="Arial"/>
              </a:rPr>
              <a:t>REHEARSAL</a:t>
            </a:r>
          </a:p>
        </p:txBody>
      </p:sp>
      <p:sp>
        <p:nvSpPr>
          <p:cNvPr id="6" name="TextBox 5"/>
          <p:cNvSpPr txBox="1"/>
          <p:nvPr/>
        </p:nvSpPr>
        <p:spPr>
          <a:xfrm>
            <a:off x="5334000" y="381000"/>
            <a:ext cx="6223000" cy="186690"/>
          </a:xfrm>
          <a:prstGeom prst="rect">
            <a:avLst/>
          </a:prstGeom>
          <a:noFill/>
        </p:spPr>
        <p:txBody>
          <a:bodyPr wrap="none" lIns="0" rIns="0" tIns="0" bIns="0" anchor="t">
            <a:spAutoFit/>
          </a:bodyPr>
          <a:lstStyle/>
          <a:p>
            <a:pPr>
              <a:lnSpc>
                <a:spcPts val="1170"/>
              </a:lnSpc>
              <a:spcBef>
                <a:spcPts val="0"/>
              </a:spcBef>
              <a:spcAft>
                <a:spcPts val="0"/>
              </a:spcAft>
            </a:pPr>
            <a:r>
              <a:rPr sz="1000" b="0">
                <a:solidFill>
                  <a:srgbClr val="647064"/>
                </a:solidFill>
                <a:latin typeface="Arial"/>
              </a:rPr>
              <a:t>HUMAN APPROVAL AND HANDOFF</a:t>
            </a:r>
          </a:p>
        </p:txBody>
      </p:sp>
      <p:sp>
        <p:nvSpPr>
          <p:cNvPr id="7" name="TextBox 6"/>
          <p:cNvSpPr txBox="1"/>
          <p:nvPr/>
        </p:nvSpPr>
        <p:spPr>
          <a:xfrm>
            <a:off x="482600" y="6515100"/>
            <a:ext cx="7620000" cy="156972"/>
          </a:xfrm>
          <a:prstGeom prst="rect">
            <a:avLst/>
          </a:prstGeom>
          <a:noFill/>
        </p:spPr>
        <p:txBody>
          <a:bodyPr wrap="none" lIns="0" rIns="0" tIns="0" bIns="0" anchor="t">
            <a:spAutoFit/>
          </a:bodyPr>
          <a:lstStyle/>
          <a:p>
            <a:pPr>
              <a:lnSpc>
                <a:spcPts val="936"/>
              </a:lnSpc>
              <a:spcBef>
                <a:spcPts val="0"/>
              </a:spcBef>
              <a:spcAft>
                <a:spcPts val="0"/>
              </a:spcAft>
            </a:pPr>
            <a:r>
              <a:rPr sz="800" b="0">
                <a:solidFill>
                  <a:srgbClr val="647064"/>
                </a:solidFill>
                <a:latin typeface="Arial"/>
              </a:rPr>
              <a:t>FORGE AHEAD / AMD DEVELOPER HACKATHON: ACT III</a:t>
            </a:r>
          </a:p>
        </p:txBody>
      </p:sp>
      <p:sp>
        <p:nvSpPr>
          <p:cNvPr id="8" name="TextBox 7"/>
          <p:cNvSpPr txBox="1"/>
          <p:nvPr/>
        </p:nvSpPr>
        <p:spPr>
          <a:xfrm>
            <a:off x="11353800" y="6489700"/>
            <a:ext cx="381000" cy="186690"/>
          </a:xfrm>
          <a:prstGeom prst="rect">
            <a:avLst/>
          </a:prstGeom>
          <a:noFill/>
        </p:spPr>
        <p:txBody>
          <a:bodyPr wrap="none" lIns="0" rIns="0" tIns="0" bIns="0" anchor="t">
            <a:spAutoFit/>
          </a:bodyPr>
          <a:lstStyle/>
          <a:p>
            <a:pPr>
              <a:lnSpc>
                <a:spcPts val="1170"/>
              </a:lnSpc>
              <a:spcBef>
                <a:spcPts val="0"/>
              </a:spcBef>
              <a:spcAft>
                <a:spcPts val="0"/>
              </a:spcAft>
            </a:pPr>
            <a:r>
              <a:rPr sz="1000" b="0">
                <a:solidFill>
                  <a:srgbClr val="647064"/>
                </a:solidFill>
                <a:latin typeface="Arial"/>
              </a:rPr>
              <a:t>06</a:t>
            </a:r>
          </a:p>
        </p:txBody>
      </p:sp>
      <p:sp>
        <p:nvSpPr>
          <p:cNvPr id="9" name="TextBox 8"/>
          <p:cNvSpPr txBox="1"/>
          <p:nvPr/>
        </p:nvSpPr>
        <p:spPr>
          <a:xfrm>
            <a:off x="482600" y="6223000"/>
            <a:ext cx="10160000" cy="156972"/>
          </a:xfrm>
          <a:prstGeom prst="rect">
            <a:avLst/>
          </a:prstGeom>
          <a:noFill/>
        </p:spPr>
        <p:txBody>
          <a:bodyPr wrap="none" lIns="0" rIns="0" tIns="0" bIns="0" anchor="t">
            <a:spAutoFit/>
          </a:bodyPr>
          <a:lstStyle/>
          <a:p>
            <a:pPr>
              <a:lnSpc>
                <a:spcPts val="936"/>
              </a:lnSpc>
              <a:spcBef>
                <a:spcPts val="0"/>
              </a:spcBef>
              <a:spcAft>
                <a:spcPts val="0"/>
              </a:spcAft>
            </a:pPr>
            <a:r>
              <a:rPr sz="800" b="0">
                <a:solidFill>
                  <a:srgbClr val="647064"/>
                </a:solidFill>
                <a:latin typeface="Arial"/>
                <a:hlinkClick r:id="rId2"/>
              </a:rPr>
              <a:t>Evidence / source</a:t>
            </a:r>
          </a:p>
        </p:txBody>
      </p:sp>
      <p:sp>
        <p:nvSpPr>
          <p:cNvPr id="10" name="TextBox 9"/>
          <p:cNvSpPr txBox="1"/>
          <p:nvPr/>
        </p:nvSpPr>
        <p:spPr>
          <a:xfrm>
            <a:off x="482600" y="1054100"/>
            <a:ext cx="11226800" cy="1054100"/>
          </a:xfrm>
          <a:prstGeom prst="rect">
            <a:avLst/>
          </a:prstGeom>
          <a:noFill/>
        </p:spPr>
        <p:txBody>
          <a:bodyPr wrap="none" lIns="0" rIns="0" tIns="0" bIns="0" anchor="t">
            <a:spAutoFit/>
          </a:bodyPr>
          <a:lstStyle/>
          <a:p>
            <a:pPr>
              <a:lnSpc>
                <a:spcPts val="4000"/>
              </a:lnSpc>
              <a:spcBef>
                <a:spcPts val="0"/>
              </a:spcBef>
              <a:spcAft>
                <a:spcPts val="0"/>
              </a:spcAft>
            </a:pPr>
            <a:r>
              <a:rPr sz="3700" b="1">
                <a:solidFill>
                  <a:srgbClr val="27332C"/>
                </a:solidFill>
                <a:latin typeface="Arial"/>
              </a:rPr>
              <a:t>A decision someone owns.</a:t>
            </a:r>
          </a:p>
          <a:p>
            <a:pPr>
              <a:lnSpc>
                <a:spcPts val="4000"/>
              </a:lnSpc>
              <a:spcBef>
                <a:spcPts val="0"/>
              </a:spcBef>
              <a:spcAft>
                <a:spcPts val="0"/>
              </a:spcAft>
            </a:pPr>
            <a:r>
              <a:rPr sz="3700" b="1">
                <a:solidFill>
                  <a:srgbClr val="27332C"/>
                </a:solidFill>
                <a:latin typeface="Arial"/>
              </a:rPr>
              <a:t>A record you can keep.</a:t>
            </a:r>
          </a:p>
        </p:txBody>
      </p:sp>
      <p:sp>
        <p:nvSpPr>
          <p:cNvPr id="11" name="TextBox 10"/>
          <p:cNvSpPr txBox="1"/>
          <p:nvPr/>
        </p:nvSpPr>
        <p:spPr>
          <a:xfrm>
            <a:off x="508000" y="2489200"/>
            <a:ext cx="609600" cy="335280"/>
          </a:xfrm>
          <a:prstGeom prst="rect">
            <a:avLst/>
          </a:prstGeom>
          <a:noFill/>
        </p:spPr>
        <p:txBody>
          <a:bodyPr wrap="none" lIns="0" rIns="0" tIns="0" bIns="0" anchor="t">
            <a:spAutoFit/>
          </a:bodyPr>
          <a:lstStyle/>
          <a:p>
            <a:pPr>
              <a:lnSpc>
                <a:spcPts val="2340"/>
              </a:lnSpc>
              <a:spcBef>
                <a:spcPts val="0"/>
              </a:spcBef>
              <a:spcAft>
                <a:spcPts val="0"/>
              </a:spcAft>
            </a:pPr>
            <a:r>
              <a:rPr sz="2000" b="1">
                <a:solidFill>
                  <a:srgbClr val="D4532B"/>
                </a:solidFill>
                <a:latin typeface="Arial"/>
              </a:rPr>
              <a:t>01</a:t>
            </a:r>
          </a:p>
        </p:txBody>
      </p:sp>
      <p:sp>
        <p:nvSpPr>
          <p:cNvPr id="12" name="TextBox 11"/>
          <p:cNvSpPr txBox="1"/>
          <p:nvPr/>
        </p:nvSpPr>
        <p:spPr>
          <a:xfrm>
            <a:off x="1219200" y="2438400"/>
            <a:ext cx="4445000" cy="335280"/>
          </a:xfrm>
          <a:prstGeom prst="rect">
            <a:avLst/>
          </a:prstGeom>
          <a:noFill/>
        </p:spPr>
        <p:txBody>
          <a:bodyPr wrap="none" lIns="0" rIns="0" tIns="0" bIns="0" anchor="t">
            <a:spAutoFit/>
          </a:bodyPr>
          <a:lstStyle/>
          <a:p>
            <a:pPr>
              <a:lnSpc>
                <a:spcPts val="2340"/>
              </a:lnSpc>
              <a:spcBef>
                <a:spcPts val="0"/>
              </a:spcBef>
              <a:spcAft>
                <a:spcPts val="0"/>
              </a:spcAft>
            </a:pPr>
            <a:r>
              <a:rPr sz="2000" b="1">
                <a:solidFill>
                  <a:srgbClr val="27332C"/>
                </a:solidFill>
                <a:latin typeface="Arial"/>
              </a:rPr>
              <a:t>Accept the tradeoff</a:t>
            </a:r>
          </a:p>
        </p:txBody>
      </p:sp>
      <p:sp>
        <p:nvSpPr>
          <p:cNvPr id="13" name="TextBox 12"/>
          <p:cNvSpPr txBox="1"/>
          <p:nvPr/>
        </p:nvSpPr>
        <p:spPr>
          <a:xfrm>
            <a:off x="1219200" y="2832100"/>
            <a:ext cx="4445000" cy="483869"/>
          </a:xfrm>
          <a:prstGeom prst="rect">
            <a:avLst/>
          </a:prstGeom>
          <a:noFill/>
        </p:spPr>
        <p:txBody>
          <a:bodyPr wrap="none" lIns="0" rIns="0" tIns="0" bIns="0" anchor="t">
            <a:spAutoFit/>
          </a:bodyPr>
          <a:lstStyle/>
          <a:p>
            <a:pPr>
              <a:lnSpc>
                <a:spcPts val="1754"/>
              </a:lnSpc>
              <a:spcBef>
                <a:spcPts val="0"/>
              </a:spcBef>
              <a:spcAft>
                <a:spcPts val="0"/>
              </a:spcAft>
            </a:pPr>
            <a:r>
              <a:rPr sz="1500" b="0">
                <a:solidFill>
                  <a:srgbClr val="647064"/>
                </a:solidFill>
                <a:latin typeface="Arial"/>
              </a:rPr>
              <a:t>Required late-delivery and overtime concessions</a:t>
            </a:r>
          </a:p>
          <a:p>
            <a:pPr>
              <a:lnSpc>
                <a:spcPts val="1754"/>
              </a:lnSpc>
              <a:spcBef>
                <a:spcPts val="0"/>
              </a:spcBef>
              <a:spcAft>
                <a:spcPts val="0"/>
              </a:spcAft>
            </a:pPr>
            <a:r>
              <a:rPr sz="1500" b="0">
                <a:solidFill>
                  <a:srgbClr val="647064"/>
                </a:solidFill>
                <a:latin typeface="Arial"/>
              </a:rPr>
              <a:t>are explicit.</a:t>
            </a:r>
          </a:p>
        </p:txBody>
      </p:sp>
      <p:sp>
        <p:nvSpPr>
          <p:cNvPr id="14" name="TextBox 13"/>
          <p:cNvSpPr txBox="1"/>
          <p:nvPr/>
        </p:nvSpPr>
        <p:spPr>
          <a:xfrm>
            <a:off x="508000" y="3606800"/>
            <a:ext cx="609600" cy="335280"/>
          </a:xfrm>
          <a:prstGeom prst="rect">
            <a:avLst/>
          </a:prstGeom>
          <a:noFill/>
        </p:spPr>
        <p:txBody>
          <a:bodyPr wrap="none" lIns="0" rIns="0" tIns="0" bIns="0" anchor="t">
            <a:spAutoFit/>
          </a:bodyPr>
          <a:lstStyle/>
          <a:p>
            <a:pPr>
              <a:lnSpc>
                <a:spcPts val="2340"/>
              </a:lnSpc>
              <a:spcBef>
                <a:spcPts val="0"/>
              </a:spcBef>
              <a:spcAft>
                <a:spcPts val="0"/>
              </a:spcAft>
            </a:pPr>
            <a:r>
              <a:rPr sz="2000" b="1">
                <a:solidFill>
                  <a:srgbClr val="D4532B"/>
                </a:solidFill>
                <a:latin typeface="Arial"/>
              </a:rPr>
              <a:t>02</a:t>
            </a:r>
          </a:p>
        </p:txBody>
      </p:sp>
      <p:sp>
        <p:nvSpPr>
          <p:cNvPr id="15" name="TextBox 14"/>
          <p:cNvSpPr txBox="1"/>
          <p:nvPr/>
        </p:nvSpPr>
        <p:spPr>
          <a:xfrm>
            <a:off x="1219200" y="3556000"/>
            <a:ext cx="4445000" cy="335280"/>
          </a:xfrm>
          <a:prstGeom prst="rect">
            <a:avLst/>
          </a:prstGeom>
          <a:noFill/>
        </p:spPr>
        <p:txBody>
          <a:bodyPr wrap="none" lIns="0" rIns="0" tIns="0" bIns="0" anchor="t">
            <a:spAutoFit/>
          </a:bodyPr>
          <a:lstStyle/>
          <a:p>
            <a:pPr>
              <a:lnSpc>
                <a:spcPts val="2340"/>
              </a:lnSpc>
              <a:spcBef>
                <a:spcPts val="0"/>
              </a:spcBef>
              <a:spcAft>
                <a:spcPts val="0"/>
              </a:spcAft>
            </a:pPr>
            <a:r>
              <a:rPr sz="2000" b="1">
                <a:solidFill>
                  <a:srgbClr val="27332C"/>
                </a:solidFill>
                <a:latin typeface="Arial"/>
              </a:rPr>
              <a:t>Approve a stored plan</a:t>
            </a:r>
          </a:p>
        </p:txBody>
      </p:sp>
      <p:sp>
        <p:nvSpPr>
          <p:cNvPr id="16" name="TextBox 15"/>
          <p:cNvSpPr txBox="1"/>
          <p:nvPr/>
        </p:nvSpPr>
        <p:spPr>
          <a:xfrm>
            <a:off x="1219200" y="3949700"/>
            <a:ext cx="4445000" cy="483869"/>
          </a:xfrm>
          <a:prstGeom prst="rect">
            <a:avLst/>
          </a:prstGeom>
          <a:noFill/>
        </p:spPr>
        <p:txBody>
          <a:bodyPr wrap="none" lIns="0" rIns="0" tIns="0" bIns="0" anchor="t">
            <a:spAutoFit/>
          </a:bodyPr>
          <a:lstStyle/>
          <a:p>
            <a:pPr>
              <a:lnSpc>
                <a:spcPts val="1754"/>
              </a:lnSpc>
              <a:spcBef>
                <a:spcPts val="0"/>
              </a:spcBef>
              <a:spcAft>
                <a:spcPts val="0"/>
              </a:spcAft>
            </a:pPr>
            <a:r>
              <a:rPr sz="1500" b="0">
                <a:solidFill>
                  <a:srgbClr val="647064"/>
                </a:solidFill>
                <a:latin typeface="Arial"/>
              </a:rPr>
              <a:t>The server checks its own schedule again before</a:t>
            </a:r>
          </a:p>
          <a:p>
            <a:pPr>
              <a:lnSpc>
                <a:spcPts val="1754"/>
              </a:lnSpc>
              <a:spcBef>
                <a:spcPts val="0"/>
              </a:spcBef>
              <a:spcAft>
                <a:spcPts val="0"/>
              </a:spcAft>
            </a:pPr>
            <a:r>
              <a:rPr sz="1500" b="0">
                <a:solidFill>
                  <a:srgbClr val="647064"/>
                </a:solidFill>
                <a:latin typeface="Arial"/>
              </a:rPr>
              <a:t>export.</a:t>
            </a:r>
          </a:p>
        </p:txBody>
      </p:sp>
      <p:sp>
        <p:nvSpPr>
          <p:cNvPr id="17" name="TextBox 16"/>
          <p:cNvSpPr txBox="1"/>
          <p:nvPr/>
        </p:nvSpPr>
        <p:spPr>
          <a:xfrm>
            <a:off x="508000" y="4724400"/>
            <a:ext cx="609600" cy="335280"/>
          </a:xfrm>
          <a:prstGeom prst="rect">
            <a:avLst/>
          </a:prstGeom>
          <a:noFill/>
        </p:spPr>
        <p:txBody>
          <a:bodyPr wrap="none" lIns="0" rIns="0" tIns="0" bIns="0" anchor="t">
            <a:spAutoFit/>
          </a:bodyPr>
          <a:lstStyle/>
          <a:p>
            <a:pPr>
              <a:lnSpc>
                <a:spcPts val="2340"/>
              </a:lnSpc>
              <a:spcBef>
                <a:spcPts val="0"/>
              </a:spcBef>
              <a:spcAft>
                <a:spcPts val="0"/>
              </a:spcAft>
            </a:pPr>
            <a:r>
              <a:rPr sz="2000" b="1">
                <a:solidFill>
                  <a:srgbClr val="D4532B"/>
                </a:solidFill>
                <a:latin typeface="Arial"/>
              </a:rPr>
              <a:t>03</a:t>
            </a:r>
          </a:p>
        </p:txBody>
      </p:sp>
      <p:sp>
        <p:nvSpPr>
          <p:cNvPr id="18" name="TextBox 17"/>
          <p:cNvSpPr txBox="1"/>
          <p:nvPr/>
        </p:nvSpPr>
        <p:spPr>
          <a:xfrm>
            <a:off x="1219200" y="4673600"/>
            <a:ext cx="4445000" cy="335280"/>
          </a:xfrm>
          <a:prstGeom prst="rect">
            <a:avLst/>
          </a:prstGeom>
          <a:noFill/>
        </p:spPr>
        <p:txBody>
          <a:bodyPr wrap="none" lIns="0" rIns="0" tIns="0" bIns="0" anchor="t">
            <a:spAutoFit/>
          </a:bodyPr>
          <a:lstStyle/>
          <a:p>
            <a:pPr>
              <a:lnSpc>
                <a:spcPts val="2340"/>
              </a:lnSpc>
              <a:spcBef>
                <a:spcPts val="0"/>
              </a:spcBef>
              <a:spcAft>
                <a:spcPts val="0"/>
              </a:spcAft>
            </a:pPr>
            <a:r>
              <a:rPr sz="2000" b="1">
                <a:solidFill>
                  <a:srgbClr val="27332C"/>
                </a:solidFill>
                <a:latin typeface="Arial"/>
              </a:rPr>
              <a:t>Keep both exports</a:t>
            </a:r>
          </a:p>
        </p:txBody>
      </p:sp>
      <p:sp>
        <p:nvSpPr>
          <p:cNvPr id="19" name="TextBox 18"/>
          <p:cNvSpPr txBox="1"/>
          <p:nvPr/>
        </p:nvSpPr>
        <p:spPr>
          <a:xfrm>
            <a:off x="1219200" y="5067300"/>
            <a:ext cx="4445000" cy="483869"/>
          </a:xfrm>
          <a:prstGeom prst="rect">
            <a:avLst/>
          </a:prstGeom>
          <a:noFill/>
        </p:spPr>
        <p:txBody>
          <a:bodyPr wrap="none" lIns="0" rIns="0" tIns="0" bIns="0" anchor="t">
            <a:spAutoFit/>
          </a:bodyPr>
          <a:lstStyle/>
          <a:p>
            <a:pPr>
              <a:lnSpc>
                <a:spcPts val="1754"/>
              </a:lnSpc>
              <a:spcBef>
                <a:spcPts val="0"/>
              </a:spcBef>
              <a:spcAft>
                <a:spcPts val="0"/>
              </a:spcAft>
            </a:pPr>
            <a:r>
              <a:rPr sz="1500" b="0">
                <a:solidFill>
                  <a:srgbClr val="647064"/>
                </a:solidFill>
                <a:latin typeface="Arial"/>
              </a:rPr>
              <a:t>Dispatch CSV + a decision JSON with AMD trace</a:t>
            </a:r>
          </a:p>
          <a:p>
            <a:pPr>
              <a:lnSpc>
                <a:spcPts val="1754"/>
              </a:lnSpc>
              <a:spcBef>
                <a:spcPts val="0"/>
              </a:spcBef>
              <a:spcAft>
                <a:spcPts val="0"/>
              </a:spcAft>
            </a:pPr>
            <a:r>
              <a:rPr sz="1500" b="0">
                <a:solidFill>
                  <a:srgbClr val="647064"/>
                </a:solidFill>
                <a:latin typeface="Arial"/>
              </a:rPr>
              <a:t>and rehearsal evidence.</a:t>
            </a:r>
          </a:p>
        </p:txBody>
      </p:sp>
      <p:sp>
        <p:nvSpPr>
          <p:cNvPr id="20" name="Rounded Rectangle 19"/>
          <p:cNvSpPr/>
          <p:nvPr/>
        </p:nvSpPr>
        <p:spPr>
          <a:xfrm>
            <a:off x="6121400" y="2438400"/>
            <a:ext cx="5588000" cy="3200400"/>
          </a:xfrm>
          <a:prstGeom prst="roundRect">
            <a:avLst/>
          </a:prstGeom>
          <a:solidFill>
            <a:srgbClr val="2733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88100" y="2692400"/>
            <a:ext cx="5054600" cy="201548"/>
          </a:xfrm>
          <a:prstGeom prst="rect">
            <a:avLst/>
          </a:prstGeom>
          <a:noFill/>
        </p:spPr>
        <p:txBody>
          <a:bodyPr wrap="none" lIns="0" rIns="0" tIns="0" bIns="0" anchor="t">
            <a:spAutoFit/>
          </a:bodyPr>
          <a:lstStyle/>
          <a:p>
            <a:pPr>
              <a:lnSpc>
                <a:spcPts val="1287"/>
              </a:lnSpc>
              <a:spcBef>
                <a:spcPts val="0"/>
              </a:spcBef>
              <a:spcAft>
                <a:spcPts val="0"/>
              </a:spcAft>
            </a:pPr>
            <a:r>
              <a:rPr sz="1100" b="1">
                <a:solidFill>
                  <a:srgbClr val="CFD6C9"/>
                </a:solidFill>
                <a:latin typeface="Arial"/>
              </a:rPr>
              <a:t>ACTUAL DISPATCH EXPORT · EXCERPT</a:t>
            </a:r>
          </a:p>
        </p:txBody>
      </p:sp>
      <p:sp>
        <p:nvSpPr>
          <p:cNvPr id="22" name="TextBox 21"/>
          <p:cNvSpPr txBox="1"/>
          <p:nvPr/>
        </p:nvSpPr>
        <p:spPr>
          <a:xfrm>
            <a:off x="6388100" y="3213100"/>
            <a:ext cx="5003800" cy="1625600"/>
          </a:xfrm>
          <a:prstGeom prst="rect">
            <a:avLst/>
          </a:prstGeom>
          <a:noFill/>
        </p:spPr>
        <p:txBody>
          <a:bodyPr wrap="none" lIns="0" rIns="0" tIns="0" bIns="0" anchor="t">
            <a:spAutoFit/>
          </a:bodyPr>
          <a:lstStyle/>
          <a:p>
            <a:pPr>
              <a:lnSpc>
                <a:spcPts val="2500"/>
              </a:lnSpc>
              <a:spcBef>
                <a:spcPts val="0"/>
              </a:spcBef>
              <a:spcAft>
                <a:spcPts val="0"/>
              </a:spcAft>
            </a:pPr>
            <a:r>
              <a:rPr sz="1500" b="0">
                <a:solidFill>
                  <a:srgbClr val="FFFFFF"/>
                </a:solidFill>
                <a:latin typeface="Liberation Mono"/>
              </a:rPr>
              <a:t>machine job op start end</a:t>
            </a:r>
          </a:p>
          <a:p>
            <a:pPr>
              <a:lnSpc>
                <a:spcPts val="2500"/>
              </a:lnSpc>
              <a:spcBef>
                <a:spcPts val="0"/>
              </a:spcBef>
              <a:spcAft>
                <a:spcPts val="0"/>
              </a:spcAft>
            </a:pPr>
            <a:r>
              <a:rPr sz="1500" b="0">
                <a:solidFill>
                  <a:srgbClr val="FFFFFF"/>
                </a:solidFill>
                <a:latin typeface="Liberation Mono"/>
              </a:rPr>
              <a:t>M1 J1 2 10:10 11:20</a:t>
            </a:r>
          </a:p>
          <a:p>
            <a:pPr>
              <a:lnSpc>
                <a:spcPts val="2500"/>
              </a:lnSpc>
              <a:spcBef>
                <a:spcPts val="0"/>
              </a:spcBef>
              <a:spcAft>
                <a:spcPts val="0"/>
              </a:spcAft>
            </a:pPr>
            <a:r>
              <a:rPr sz="1500" b="0">
                <a:solidFill>
                  <a:srgbClr val="FFFFFF"/>
                </a:solidFill>
                <a:latin typeface="Liberation Mono"/>
              </a:rPr>
              <a:t>M1 J7 2 11:20 13:40</a:t>
            </a:r>
          </a:p>
          <a:p>
            <a:pPr>
              <a:lnSpc>
                <a:spcPts val="2500"/>
              </a:lnSpc>
              <a:spcBef>
                <a:spcPts val="0"/>
              </a:spcBef>
              <a:spcAft>
                <a:spcPts val="0"/>
              </a:spcAft>
            </a:pPr>
            <a:r>
              <a:rPr sz="1500" b="0">
                <a:solidFill>
                  <a:srgbClr val="FFFFFF"/>
                </a:solidFill>
                <a:latin typeface="Liberation Mono"/>
              </a:rPr>
              <a:t>M1 J6 2 13:40 15:05</a:t>
            </a:r>
          </a:p>
          <a:p>
            <a:pPr>
              <a:lnSpc>
                <a:spcPts val="2500"/>
              </a:lnSpc>
              <a:spcBef>
                <a:spcPts val="0"/>
              </a:spcBef>
              <a:spcAft>
                <a:spcPts val="0"/>
              </a:spcAft>
            </a:pPr>
            <a:r>
              <a:rPr sz="1500" b="0">
                <a:solidFill>
                  <a:srgbClr val="FFFFFF"/>
                </a:solidFill>
                <a:latin typeface="Liberation Mono"/>
              </a:rPr>
              <a:t>M1 J4 2 15:05 16:35</a:t>
            </a:r>
          </a:p>
        </p:txBody>
      </p:sp>
      <p:sp>
        <p:nvSpPr>
          <p:cNvPr id="23" name="TextBox 22"/>
          <p:cNvSpPr txBox="1"/>
          <p:nvPr/>
        </p:nvSpPr>
        <p:spPr>
          <a:xfrm>
            <a:off x="508000" y="5905500"/>
            <a:ext cx="11087100" cy="246126"/>
          </a:xfrm>
          <a:prstGeom prst="rect">
            <a:avLst/>
          </a:prstGeom>
          <a:noFill/>
        </p:spPr>
        <p:txBody>
          <a:bodyPr wrap="none" lIns="0" rIns="0" tIns="0" bIns="0" anchor="t">
            <a:spAutoFit/>
          </a:bodyPr>
          <a:lstStyle/>
          <a:p>
            <a:pPr>
              <a:lnSpc>
                <a:spcPts val="1638"/>
              </a:lnSpc>
              <a:spcBef>
                <a:spcPts val="0"/>
              </a:spcBef>
              <a:spcAft>
                <a:spcPts val="0"/>
              </a:spcAft>
            </a:pPr>
            <a:r>
              <a:rPr sz="1400" b="0">
                <a:solidFill>
                  <a:srgbClr val="647064"/>
                </a:solidFill>
                <a:latin typeface="Arial"/>
              </a:rPr>
              <a:t>Approval locks the decision. Identical retries return the same exports.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6EF"/>
        </a:solidFill>
        <a:effectLst/>
      </p:bgPr>
    </p:bg>
    <p:spTree>
      <p:nvGrpSpPr>
        <p:cNvPr id="1" name=""/>
        <p:cNvGrpSpPr/>
        <p:nvPr/>
      </p:nvGrpSpPr>
      <p:grpSpPr/>
      <p:sp>
        <p:nvSpPr>
          <p:cNvPr id="2" name="Rectangle 1"/>
          <p:cNvSpPr/>
          <p:nvPr/>
        </p:nvSpPr>
        <p:spPr>
          <a:xfrm>
            <a:off x="482600" y="508000"/>
            <a:ext cx="50800" cy="152400"/>
          </a:xfrm>
          <a:prstGeom prst="rect">
            <a:avLst/>
          </a:prstGeom>
          <a:solidFill>
            <a:srgbClr val="D45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71500" y="406400"/>
            <a:ext cx="50800" cy="254000"/>
          </a:xfrm>
          <a:prstGeom prst="rect">
            <a:avLst/>
          </a:prstGeom>
          <a:solidFill>
            <a:srgbClr val="D45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60400" y="317500"/>
            <a:ext cx="50800" cy="342900"/>
          </a:xfrm>
          <a:prstGeom prst="rect">
            <a:avLst/>
          </a:prstGeom>
          <a:solidFill>
            <a:srgbClr val="D45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3600" y="368300"/>
            <a:ext cx="2286000" cy="216408"/>
          </a:xfrm>
          <a:prstGeom prst="rect">
            <a:avLst/>
          </a:prstGeom>
          <a:noFill/>
        </p:spPr>
        <p:txBody>
          <a:bodyPr wrap="none" lIns="0" rIns="0" tIns="0" bIns="0" anchor="t">
            <a:spAutoFit/>
          </a:bodyPr>
          <a:lstStyle/>
          <a:p>
            <a:pPr>
              <a:lnSpc>
                <a:spcPts val="1404"/>
              </a:lnSpc>
              <a:spcBef>
                <a:spcPts val="0"/>
              </a:spcBef>
              <a:spcAft>
                <a:spcPts val="0"/>
              </a:spcAft>
            </a:pPr>
            <a:r>
              <a:rPr sz="1200" b="1">
                <a:solidFill>
                  <a:srgbClr val="27332C"/>
                </a:solidFill>
                <a:latin typeface="Arial"/>
              </a:rPr>
              <a:t>REHEARSAL</a:t>
            </a:r>
          </a:p>
        </p:txBody>
      </p:sp>
      <p:sp>
        <p:nvSpPr>
          <p:cNvPr id="6" name="TextBox 5"/>
          <p:cNvSpPr txBox="1"/>
          <p:nvPr/>
        </p:nvSpPr>
        <p:spPr>
          <a:xfrm>
            <a:off x="5334000" y="381000"/>
            <a:ext cx="6223000" cy="186690"/>
          </a:xfrm>
          <a:prstGeom prst="rect">
            <a:avLst/>
          </a:prstGeom>
          <a:noFill/>
        </p:spPr>
        <p:txBody>
          <a:bodyPr wrap="none" lIns="0" rIns="0" tIns="0" bIns="0" anchor="t">
            <a:spAutoFit/>
          </a:bodyPr>
          <a:lstStyle/>
          <a:p>
            <a:pPr>
              <a:lnSpc>
                <a:spcPts val="1170"/>
              </a:lnSpc>
              <a:spcBef>
                <a:spcPts val="0"/>
              </a:spcBef>
              <a:spcAft>
                <a:spcPts val="0"/>
              </a:spcAft>
            </a:pPr>
            <a:r>
              <a:rPr sz="1000" b="0">
                <a:solidFill>
                  <a:srgbClr val="647064"/>
                </a:solidFill>
                <a:latin typeface="Arial"/>
              </a:rPr>
              <a:t>APPLICATION OF TECHNOLOGY</a:t>
            </a:r>
          </a:p>
        </p:txBody>
      </p:sp>
      <p:sp>
        <p:nvSpPr>
          <p:cNvPr id="7" name="TextBox 6"/>
          <p:cNvSpPr txBox="1"/>
          <p:nvPr/>
        </p:nvSpPr>
        <p:spPr>
          <a:xfrm>
            <a:off x="482600" y="6515100"/>
            <a:ext cx="7620000" cy="156972"/>
          </a:xfrm>
          <a:prstGeom prst="rect">
            <a:avLst/>
          </a:prstGeom>
          <a:noFill/>
        </p:spPr>
        <p:txBody>
          <a:bodyPr wrap="none" lIns="0" rIns="0" tIns="0" bIns="0" anchor="t">
            <a:spAutoFit/>
          </a:bodyPr>
          <a:lstStyle/>
          <a:p>
            <a:pPr>
              <a:lnSpc>
                <a:spcPts val="936"/>
              </a:lnSpc>
              <a:spcBef>
                <a:spcPts val="0"/>
              </a:spcBef>
              <a:spcAft>
                <a:spcPts val="0"/>
              </a:spcAft>
            </a:pPr>
            <a:r>
              <a:rPr sz="800" b="0">
                <a:solidFill>
                  <a:srgbClr val="647064"/>
                </a:solidFill>
                <a:latin typeface="Arial"/>
              </a:rPr>
              <a:t>FORGE AHEAD / AMD DEVELOPER HACKATHON: ACT III</a:t>
            </a:r>
          </a:p>
        </p:txBody>
      </p:sp>
      <p:sp>
        <p:nvSpPr>
          <p:cNvPr id="8" name="TextBox 7"/>
          <p:cNvSpPr txBox="1"/>
          <p:nvPr/>
        </p:nvSpPr>
        <p:spPr>
          <a:xfrm>
            <a:off x="11353800" y="6489700"/>
            <a:ext cx="381000" cy="186690"/>
          </a:xfrm>
          <a:prstGeom prst="rect">
            <a:avLst/>
          </a:prstGeom>
          <a:noFill/>
        </p:spPr>
        <p:txBody>
          <a:bodyPr wrap="none" lIns="0" rIns="0" tIns="0" bIns="0" anchor="t">
            <a:spAutoFit/>
          </a:bodyPr>
          <a:lstStyle/>
          <a:p>
            <a:pPr>
              <a:lnSpc>
                <a:spcPts val="1170"/>
              </a:lnSpc>
              <a:spcBef>
                <a:spcPts val="0"/>
              </a:spcBef>
              <a:spcAft>
                <a:spcPts val="0"/>
              </a:spcAft>
            </a:pPr>
            <a:r>
              <a:rPr sz="1000" b="0">
                <a:solidFill>
                  <a:srgbClr val="647064"/>
                </a:solidFill>
                <a:latin typeface="Arial"/>
              </a:rPr>
              <a:t>07</a:t>
            </a:r>
          </a:p>
        </p:txBody>
      </p:sp>
      <p:sp>
        <p:nvSpPr>
          <p:cNvPr id="9" name="TextBox 8"/>
          <p:cNvSpPr txBox="1"/>
          <p:nvPr/>
        </p:nvSpPr>
        <p:spPr>
          <a:xfrm>
            <a:off x="482600" y="6223000"/>
            <a:ext cx="10160000" cy="156972"/>
          </a:xfrm>
          <a:prstGeom prst="rect">
            <a:avLst/>
          </a:prstGeom>
          <a:noFill/>
        </p:spPr>
        <p:txBody>
          <a:bodyPr wrap="none" lIns="0" rIns="0" tIns="0" bIns="0" anchor="t">
            <a:spAutoFit/>
          </a:bodyPr>
          <a:lstStyle/>
          <a:p>
            <a:pPr>
              <a:lnSpc>
                <a:spcPts val="936"/>
              </a:lnSpc>
              <a:spcBef>
                <a:spcPts val="0"/>
              </a:spcBef>
              <a:spcAft>
                <a:spcPts val="0"/>
              </a:spcAft>
            </a:pPr>
            <a:r>
              <a:rPr sz="800" b="0">
                <a:solidFill>
                  <a:srgbClr val="647064"/>
                </a:solidFill>
                <a:latin typeface="Arial"/>
                <a:hlinkClick r:id="rId2"/>
              </a:rPr>
              <a:t>Evidence / source</a:t>
            </a:r>
          </a:p>
        </p:txBody>
      </p:sp>
      <p:sp>
        <p:nvSpPr>
          <p:cNvPr id="10" name="TextBox 9"/>
          <p:cNvSpPr txBox="1"/>
          <p:nvPr/>
        </p:nvSpPr>
        <p:spPr>
          <a:xfrm>
            <a:off x="482600" y="1054100"/>
            <a:ext cx="11226800" cy="1054100"/>
          </a:xfrm>
          <a:prstGeom prst="rect">
            <a:avLst/>
          </a:prstGeom>
          <a:noFill/>
        </p:spPr>
        <p:txBody>
          <a:bodyPr wrap="none" lIns="0" rIns="0" tIns="0" bIns="0" anchor="t">
            <a:spAutoFit/>
          </a:bodyPr>
          <a:lstStyle/>
          <a:p>
            <a:pPr>
              <a:lnSpc>
                <a:spcPts val="4000"/>
              </a:lnSpc>
              <a:spcBef>
                <a:spcPts val="0"/>
              </a:spcBef>
              <a:spcAft>
                <a:spcPts val="0"/>
              </a:spcAft>
            </a:pPr>
            <a:r>
              <a:rPr sz="3700" b="1">
                <a:solidFill>
                  <a:srgbClr val="27332C"/>
                </a:solidFill>
                <a:latin typeface="Arial"/>
              </a:rPr>
              <a:t>AMD reads the message.</a:t>
            </a:r>
          </a:p>
          <a:p>
            <a:pPr>
              <a:lnSpc>
                <a:spcPts val="4000"/>
              </a:lnSpc>
              <a:spcBef>
                <a:spcPts val="0"/>
              </a:spcBef>
              <a:spcAft>
                <a:spcPts val="0"/>
              </a:spcAft>
            </a:pPr>
            <a:r>
              <a:rPr sz="3700" b="1">
                <a:solidFill>
                  <a:srgbClr val="27332C"/>
                </a:solidFill>
                <a:latin typeface="Arial"/>
              </a:rPr>
              <a:t>The checks control the decision.</a:t>
            </a:r>
          </a:p>
        </p:txBody>
      </p:sp>
      <p:sp>
        <p:nvSpPr>
          <p:cNvPr id="11" name="Rounded Rectangle 10"/>
          <p:cNvSpPr/>
          <p:nvPr/>
        </p:nvSpPr>
        <p:spPr>
          <a:xfrm>
            <a:off x="482600" y="2425700"/>
            <a:ext cx="4991100" cy="1320800"/>
          </a:xfrm>
          <a:prstGeom prst="roundRect">
            <a:avLst/>
          </a:prstGeom>
          <a:solidFill>
            <a:srgbClr val="D45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900" y="2628900"/>
            <a:ext cx="4508500" cy="216408"/>
          </a:xfrm>
          <a:prstGeom prst="rect">
            <a:avLst/>
          </a:prstGeom>
          <a:noFill/>
        </p:spPr>
        <p:txBody>
          <a:bodyPr wrap="none" lIns="0" rIns="0" tIns="0" bIns="0" anchor="t">
            <a:spAutoFit/>
          </a:bodyPr>
          <a:lstStyle/>
          <a:p>
            <a:pPr>
              <a:lnSpc>
                <a:spcPts val="1404"/>
              </a:lnSpc>
              <a:spcBef>
                <a:spcPts val="0"/>
              </a:spcBef>
              <a:spcAft>
                <a:spcPts val="0"/>
              </a:spcAft>
            </a:pPr>
            <a:r>
              <a:rPr sz="1200" b="1">
                <a:solidFill>
                  <a:srgbClr val="FFFFFF"/>
                </a:solidFill>
                <a:latin typeface="Arial"/>
              </a:rPr>
              <a:t>AMD TOKEN FACTORY</a:t>
            </a:r>
          </a:p>
        </p:txBody>
      </p:sp>
      <p:sp>
        <p:nvSpPr>
          <p:cNvPr id="13" name="TextBox 12"/>
          <p:cNvSpPr txBox="1"/>
          <p:nvPr/>
        </p:nvSpPr>
        <p:spPr>
          <a:xfrm>
            <a:off x="723900" y="2984500"/>
            <a:ext cx="4457700" cy="439292"/>
          </a:xfrm>
          <a:prstGeom prst="rect">
            <a:avLst/>
          </a:prstGeom>
          <a:noFill/>
        </p:spPr>
        <p:txBody>
          <a:bodyPr wrap="none" lIns="0" rIns="0" tIns="0" bIns="0" anchor="t">
            <a:spAutoFit/>
          </a:bodyPr>
          <a:lstStyle/>
          <a:p>
            <a:pPr>
              <a:lnSpc>
                <a:spcPts val="3158"/>
              </a:lnSpc>
              <a:spcBef>
                <a:spcPts val="0"/>
              </a:spcBef>
              <a:spcAft>
                <a:spcPts val="0"/>
              </a:spcAft>
            </a:pPr>
            <a:r>
              <a:rPr sz="2700" b="1">
                <a:solidFill>
                  <a:srgbClr val="FFFFFF"/>
                </a:solidFill>
                <a:latin typeface="Arial"/>
              </a:rPr>
              <a:t>DeepSeek-V4-Flash</a:t>
            </a:r>
          </a:p>
        </p:txBody>
      </p:sp>
      <p:sp>
        <p:nvSpPr>
          <p:cNvPr id="14" name="TextBox 13"/>
          <p:cNvSpPr txBox="1"/>
          <p:nvPr/>
        </p:nvSpPr>
        <p:spPr>
          <a:xfrm>
            <a:off x="723900" y="3467100"/>
            <a:ext cx="4483100" cy="231267"/>
          </a:xfrm>
          <a:prstGeom prst="rect">
            <a:avLst/>
          </a:prstGeom>
          <a:noFill/>
        </p:spPr>
        <p:txBody>
          <a:bodyPr wrap="none" lIns="0" rIns="0" tIns="0" bIns="0" anchor="t">
            <a:spAutoFit/>
          </a:bodyPr>
          <a:lstStyle/>
          <a:p>
            <a:pPr>
              <a:lnSpc>
                <a:spcPts val="1521"/>
              </a:lnSpc>
              <a:spcBef>
                <a:spcPts val="0"/>
              </a:spcBef>
              <a:spcAft>
                <a:spcPts val="0"/>
              </a:spcAft>
            </a:pPr>
            <a:r>
              <a:rPr sz="1300" b="0">
                <a:solidFill>
                  <a:srgbClr val="FFFFFF"/>
                </a:solidFill>
                <a:latin typeface="Arial"/>
              </a:rPr>
              <a:t>Typed proposals + exact source spans</a:t>
            </a:r>
          </a:p>
        </p:txBody>
      </p:sp>
      <p:sp>
        <p:nvSpPr>
          <p:cNvPr id="15" name="Rounded Rectangle 14"/>
          <p:cNvSpPr/>
          <p:nvPr/>
        </p:nvSpPr>
        <p:spPr>
          <a:xfrm>
            <a:off x="482600" y="4000500"/>
            <a:ext cx="4991100" cy="1600200"/>
          </a:xfrm>
          <a:prstGeom prst="roundRect">
            <a:avLst/>
          </a:prstGeom>
          <a:solidFill>
            <a:srgbClr val="2733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900" y="4190999"/>
            <a:ext cx="4495800" cy="216408"/>
          </a:xfrm>
          <a:prstGeom prst="rect">
            <a:avLst/>
          </a:prstGeom>
          <a:noFill/>
        </p:spPr>
        <p:txBody>
          <a:bodyPr wrap="none" lIns="0" rIns="0" tIns="0" bIns="0" anchor="t">
            <a:spAutoFit/>
          </a:bodyPr>
          <a:lstStyle/>
          <a:p>
            <a:pPr>
              <a:lnSpc>
                <a:spcPts val="1404"/>
              </a:lnSpc>
              <a:spcBef>
                <a:spcPts val="0"/>
              </a:spcBef>
              <a:spcAft>
                <a:spcPts val="0"/>
              </a:spcAft>
            </a:pPr>
            <a:r>
              <a:rPr sz="1200" b="1">
                <a:solidFill>
                  <a:srgbClr val="CFD6C9"/>
                </a:solidFill>
                <a:latin typeface="Arial"/>
              </a:rPr>
              <a:t>WEB CONTAINER · CPU</a:t>
            </a:r>
          </a:p>
        </p:txBody>
      </p:sp>
      <p:sp>
        <p:nvSpPr>
          <p:cNvPr id="17" name="TextBox 16"/>
          <p:cNvSpPr txBox="1"/>
          <p:nvPr/>
        </p:nvSpPr>
        <p:spPr>
          <a:xfrm>
            <a:off x="723900" y="4533900"/>
            <a:ext cx="4445000" cy="364998"/>
          </a:xfrm>
          <a:prstGeom prst="rect">
            <a:avLst/>
          </a:prstGeom>
          <a:noFill/>
        </p:spPr>
        <p:txBody>
          <a:bodyPr wrap="none" lIns="0" rIns="0" tIns="0" bIns="0" anchor="t">
            <a:spAutoFit/>
          </a:bodyPr>
          <a:lstStyle/>
          <a:p>
            <a:pPr>
              <a:lnSpc>
                <a:spcPts val="2574"/>
              </a:lnSpc>
              <a:spcBef>
                <a:spcPts val="0"/>
              </a:spcBef>
              <a:spcAft>
                <a:spcPts val="0"/>
              </a:spcAft>
            </a:pPr>
            <a:r>
              <a:rPr sz="2200" b="1">
                <a:solidFill>
                  <a:srgbClr val="FFFFFF"/>
                </a:solidFill>
                <a:latin typeface="Arial"/>
              </a:rPr>
              <a:t>React + FastAPI</a:t>
            </a:r>
          </a:p>
        </p:txBody>
      </p:sp>
      <p:sp>
        <p:nvSpPr>
          <p:cNvPr id="18" name="TextBox 17"/>
          <p:cNvSpPr txBox="1"/>
          <p:nvPr/>
        </p:nvSpPr>
        <p:spPr>
          <a:xfrm>
            <a:off x="723900" y="5003800"/>
            <a:ext cx="4508500" cy="483869"/>
          </a:xfrm>
          <a:prstGeom prst="rect">
            <a:avLst/>
          </a:prstGeom>
          <a:noFill/>
        </p:spPr>
        <p:txBody>
          <a:bodyPr wrap="none" lIns="0" rIns="0" tIns="0" bIns="0" anchor="t">
            <a:spAutoFit/>
          </a:bodyPr>
          <a:lstStyle/>
          <a:p>
            <a:pPr>
              <a:lnSpc>
                <a:spcPts val="1754"/>
              </a:lnSpc>
              <a:spcBef>
                <a:spcPts val="0"/>
              </a:spcBef>
              <a:spcAft>
                <a:spcPts val="0"/>
              </a:spcAft>
            </a:pPr>
            <a:r>
              <a:rPr sz="1500" b="0">
                <a:solidFill>
                  <a:srgbClr val="FFFFFF"/>
                </a:solidFill>
                <a:latin typeface="Arial"/>
              </a:rPr>
              <a:t>OR-Tools CP-SAT → independent checker</a:t>
            </a:r>
          </a:p>
          <a:p>
            <a:pPr>
              <a:lnSpc>
                <a:spcPts val="1754"/>
              </a:lnSpc>
              <a:spcBef>
                <a:spcPts val="0"/>
              </a:spcBef>
              <a:spcAft>
                <a:spcPts val="0"/>
              </a:spcAft>
            </a:pPr>
            <a:r>
              <a:rPr sz="1500" b="0">
                <a:solidFill>
                  <a:srgbClr val="FFFFFF"/>
                </a:solidFill>
                <a:latin typeface="Arial"/>
              </a:rPr>
              <a:t>→ NumPy rehearsal → approval / exports</a:t>
            </a:r>
          </a:p>
        </p:txBody>
      </p:sp>
      <p:sp>
        <p:nvSpPr>
          <p:cNvPr id="19" name="Rounded Rectangle 18"/>
          <p:cNvSpPr/>
          <p:nvPr/>
        </p:nvSpPr>
        <p:spPr>
          <a:xfrm>
            <a:off x="5727700" y="2425700"/>
            <a:ext cx="5981700" cy="3175000"/>
          </a:xfrm>
          <a:prstGeom prst="roundRect">
            <a:avLst/>
          </a:prstGeom>
          <a:solidFill>
            <a:srgbClr val="E8EC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007100" y="2641600"/>
            <a:ext cx="5372100" cy="216408"/>
          </a:xfrm>
          <a:prstGeom prst="rect">
            <a:avLst/>
          </a:prstGeom>
          <a:noFill/>
        </p:spPr>
        <p:txBody>
          <a:bodyPr wrap="none" lIns="0" rIns="0" tIns="0" bIns="0" anchor="t">
            <a:spAutoFit/>
          </a:bodyPr>
          <a:lstStyle/>
          <a:p>
            <a:pPr>
              <a:lnSpc>
                <a:spcPts val="1404"/>
              </a:lnSpc>
              <a:spcBef>
                <a:spcPts val="0"/>
              </a:spcBef>
              <a:spcAft>
                <a:spcPts val="0"/>
              </a:spcAft>
            </a:pPr>
            <a:r>
              <a:rPr sz="1200" b="1">
                <a:solidFill>
                  <a:srgbClr val="647064"/>
                </a:solidFill>
                <a:latin typeface="Arial"/>
              </a:rPr>
              <a:t>VERIFIED LIVE REQUEST</a:t>
            </a:r>
          </a:p>
        </p:txBody>
      </p:sp>
      <p:sp>
        <p:nvSpPr>
          <p:cNvPr id="21" name="TextBox 20"/>
          <p:cNvSpPr txBox="1"/>
          <p:nvPr/>
        </p:nvSpPr>
        <p:spPr>
          <a:xfrm>
            <a:off x="6007100" y="3124200"/>
            <a:ext cx="1879599" cy="231267"/>
          </a:xfrm>
          <a:prstGeom prst="rect">
            <a:avLst/>
          </a:prstGeom>
          <a:noFill/>
        </p:spPr>
        <p:txBody>
          <a:bodyPr wrap="none" lIns="0" rIns="0" tIns="0" bIns="0" anchor="t">
            <a:spAutoFit/>
          </a:bodyPr>
          <a:lstStyle/>
          <a:p>
            <a:pPr>
              <a:lnSpc>
                <a:spcPts val="1521"/>
              </a:lnSpc>
              <a:spcBef>
                <a:spcPts val="0"/>
              </a:spcBef>
              <a:spcAft>
                <a:spcPts val="0"/>
              </a:spcAft>
            </a:pPr>
            <a:r>
              <a:rPr sz="1300" b="0">
                <a:solidFill>
                  <a:srgbClr val="647064"/>
                </a:solidFill>
                <a:latin typeface="Arial"/>
              </a:rPr>
              <a:t>Provider</a:t>
            </a:r>
          </a:p>
        </p:txBody>
      </p:sp>
      <p:sp>
        <p:nvSpPr>
          <p:cNvPr id="22" name="TextBox 21"/>
          <p:cNvSpPr txBox="1"/>
          <p:nvPr/>
        </p:nvSpPr>
        <p:spPr>
          <a:xfrm>
            <a:off x="7975599" y="3124200"/>
            <a:ext cx="3454400" cy="246126"/>
          </a:xfrm>
          <a:prstGeom prst="rect">
            <a:avLst/>
          </a:prstGeom>
          <a:noFill/>
        </p:spPr>
        <p:txBody>
          <a:bodyPr wrap="none" lIns="0" rIns="0" tIns="0" bIns="0" anchor="t">
            <a:spAutoFit/>
          </a:bodyPr>
          <a:lstStyle/>
          <a:p>
            <a:pPr>
              <a:lnSpc>
                <a:spcPts val="1638"/>
              </a:lnSpc>
              <a:spcBef>
                <a:spcPts val="0"/>
              </a:spcBef>
              <a:spcAft>
                <a:spcPts val="0"/>
              </a:spcAft>
            </a:pPr>
            <a:r>
              <a:rPr sz="1400" b="1">
                <a:solidFill>
                  <a:srgbClr val="27332C"/>
                </a:solidFill>
                <a:latin typeface="Arial"/>
              </a:rPr>
              <a:t>AMD Token Factory</a:t>
            </a:r>
          </a:p>
        </p:txBody>
      </p:sp>
      <p:sp>
        <p:nvSpPr>
          <p:cNvPr id="23" name="TextBox 22"/>
          <p:cNvSpPr txBox="1"/>
          <p:nvPr/>
        </p:nvSpPr>
        <p:spPr>
          <a:xfrm>
            <a:off x="6007100" y="3556000"/>
            <a:ext cx="1879599" cy="231267"/>
          </a:xfrm>
          <a:prstGeom prst="rect">
            <a:avLst/>
          </a:prstGeom>
          <a:noFill/>
        </p:spPr>
        <p:txBody>
          <a:bodyPr wrap="none" lIns="0" rIns="0" tIns="0" bIns="0" anchor="t">
            <a:spAutoFit/>
          </a:bodyPr>
          <a:lstStyle/>
          <a:p>
            <a:pPr>
              <a:lnSpc>
                <a:spcPts val="1521"/>
              </a:lnSpc>
              <a:spcBef>
                <a:spcPts val="0"/>
              </a:spcBef>
              <a:spcAft>
                <a:spcPts val="0"/>
              </a:spcAft>
            </a:pPr>
            <a:r>
              <a:rPr sz="1300" b="0">
                <a:solidFill>
                  <a:srgbClr val="647064"/>
                </a:solidFill>
                <a:latin typeface="Arial"/>
              </a:rPr>
              <a:t>Model</a:t>
            </a:r>
          </a:p>
        </p:txBody>
      </p:sp>
      <p:sp>
        <p:nvSpPr>
          <p:cNvPr id="24" name="TextBox 23"/>
          <p:cNvSpPr txBox="1"/>
          <p:nvPr/>
        </p:nvSpPr>
        <p:spPr>
          <a:xfrm>
            <a:off x="7975599" y="3556000"/>
            <a:ext cx="3454400" cy="246126"/>
          </a:xfrm>
          <a:prstGeom prst="rect">
            <a:avLst/>
          </a:prstGeom>
          <a:noFill/>
        </p:spPr>
        <p:txBody>
          <a:bodyPr wrap="none" lIns="0" rIns="0" tIns="0" bIns="0" anchor="t">
            <a:spAutoFit/>
          </a:bodyPr>
          <a:lstStyle/>
          <a:p>
            <a:pPr>
              <a:lnSpc>
                <a:spcPts val="1638"/>
              </a:lnSpc>
              <a:spcBef>
                <a:spcPts val="0"/>
              </a:spcBef>
              <a:spcAft>
                <a:spcPts val="0"/>
              </a:spcAft>
            </a:pPr>
            <a:r>
              <a:rPr sz="1400" b="1">
                <a:solidFill>
                  <a:srgbClr val="27332C"/>
                </a:solidFill>
                <a:latin typeface="Arial"/>
              </a:rPr>
              <a:t>DeepSeek-V4-Flash</a:t>
            </a:r>
          </a:p>
        </p:txBody>
      </p:sp>
      <p:sp>
        <p:nvSpPr>
          <p:cNvPr id="25" name="TextBox 24"/>
          <p:cNvSpPr txBox="1"/>
          <p:nvPr/>
        </p:nvSpPr>
        <p:spPr>
          <a:xfrm>
            <a:off x="6007100" y="3987799"/>
            <a:ext cx="1879599" cy="231267"/>
          </a:xfrm>
          <a:prstGeom prst="rect">
            <a:avLst/>
          </a:prstGeom>
          <a:noFill/>
        </p:spPr>
        <p:txBody>
          <a:bodyPr wrap="none" lIns="0" rIns="0" tIns="0" bIns="0" anchor="t">
            <a:spAutoFit/>
          </a:bodyPr>
          <a:lstStyle/>
          <a:p>
            <a:pPr>
              <a:lnSpc>
                <a:spcPts val="1521"/>
              </a:lnSpc>
              <a:spcBef>
                <a:spcPts val="0"/>
              </a:spcBef>
              <a:spcAft>
                <a:spcPts val="0"/>
              </a:spcAft>
            </a:pPr>
            <a:r>
              <a:rPr sz="1300" b="0">
                <a:solidFill>
                  <a:srgbClr val="647064"/>
                </a:solidFill>
                <a:latin typeface="Arial"/>
              </a:rPr>
              <a:t>Host</a:t>
            </a:r>
          </a:p>
        </p:txBody>
      </p:sp>
      <p:sp>
        <p:nvSpPr>
          <p:cNvPr id="26" name="TextBox 25"/>
          <p:cNvSpPr txBox="1"/>
          <p:nvPr/>
        </p:nvSpPr>
        <p:spPr>
          <a:xfrm>
            <a:off x="7975599" y="3987799"/>
            <a:ext cx="3454400" cy="246126"/>
          </a:xfrm>
          <a:prstGeom prst="rect">
            <a:avLst/>
          </a:prstGeom>
          <a:noFill/>
        </p:spPr>
        <p:txBody>
          <a:bodyPr wrap="none" lIns="0" rIns="0" tIns="0" bIns="0" anchor="t">
            <a:spAutoFit/>
          </a:bodyPr>
          <a:lstStyle/>
          <a:p>
            <a:pPr>
              <a:lnSpc>
                <a:spcPts val="1638"/>
              </a:lnSpc>
              <a:spcBef>
                <a:spcPts val="0"/>
              </a:spcBef>
              <a:spcAft>
                <a:spcPts val="0"/>
              </a:spcAft>
            </a:pPr>
            <a:r>
              <a:rPr sz="1400" b="1">
                <a:solidFill>
                  <a:srgbClr val="27332C"/>
                </a:solidFill>
                <a:latin typeface="Arial"/>
              </a:rPr>
              <a:t>developer.amd.com.cn</a:t>
            </a:r>
          </a:p>
        </p:txBody>
      </p:sp>
      <p:sp>
        <p:nvSpPr>
          <p:cNvPr id="27" name="TextBox 26"/>
          <p:cNvSpPr txBox="1"/>
          <p:nvPr/>
        </p:nvSpPr>
        <p:spPr>
          <a:xfrm>
            <a:off x="6007100" y="4419600"/>
            <a:ext cx="1879599" cy="231267"/>
          </a:xfrm>
          <a:prstGeom prst="rect">
            <a:avLst/>
          </a:prstGeom>
          <a:noFill/>
        </p:spPr>
        <p:txBody>
          <a:bodyPr wrap="none" lIns="0" rIns="0" tIns="0" bIns="0" anchor="t">
            <a:spAutoFit/>
          </a:bodyPr>
          <a:lstStyle/>
          <a:p>
            <a:pPr>
              <a:lnSpc>
                <a:spcPts val="1521"/>
              </a:lnSpc>
              <a:spcBef>
                <a:spcPts val="0"/>
              </a:spcBef>
              <a:spcAft>
                <a:spcPts val="0"/>
              </a:spcAft>
            </a:pPr>
            <a:r>
              <a:rPr sz="1300" b="0">
                <a:solidFill>
                  <a:srgbClr val="647064"/>
                </a:solidFill>
                <a:latin typeface="Arial"/>
              </a:rPr>
              <a:t>Latency / attempts</a:t>
            </a:r>
          </a:p>
        </p:txBody>
      </p:sp>
      <p:sp>
        <p:nvSpPr>
          <p:cNvPr id="28" name="TextBox 27"/>
          <p:cNvSpPr txBox="1"/>
          <p:nvPr/>
        </p:nvSpPr>
        <p:spPr>
          <a:xfrm>
            <a:off x="7975599" y="4419600"/>
            <a:ext cx="3454400" cy="246126"/>
          </a:xfrm>
          <a:prstGeom prst="rect">
            <a:avLst/>
          </a:prstGeom>
          <a:noFill/>
        </p:spPr>
        <p:txBody>
          <a:bodyPr wrap="none" lIns="0" rIns="0" tIns="0" bIns="0" anchor="t">
            <a:spAutoFit/>
          </a:bodyPr>
          <a:lstStyle/>
          <a:p>
            <a:pPr>
              <a:lnSpc>
                <a:spcPts val="1638"/>
              </a:lnSpc>
              <a:spcBef>
                <a:spcPts val="0"/>
              </a:spcBef>
              <a:spcAft>
                <a:spcPts val="0"/>
              </a:spcAft>
            </a:pPr>
            <a:r>
              <a:rPr sz="1400" b="1">
                <a:solidFill>
                  <a:srgbClr val="27332C"/>
                </a:solidFill>
                <a:latin typeface="Arial"/>
              </a:rPr>
              <a:t>7,866 ms / 1 attempt</a:t>
            </a:r>
          </a:p>
        </p:txBody>
      </p:sp>
      <p:sp>
        <p:nvSpPr>
          <p:cNvPr id="29" name="TextBox 28"/>
          <p:cNvSpPr txBox="1"/>
          <p:nvPr/>
        </p:nvSpPr>
        <p:spPr>
          <a:xfrm>
            <a:off x="6007100" y="4851400"/>
            <a:ext cx="1879599" cy="231267"/>
          </a:xfrm>
          <a:prstGeom prst="rect">
            <a:avLst/>
          </a:prstGeom>
          <a:noFill/>
        </p:spPr>
        <p:txBody>
          <a:bodyPr wrap="none" lIns="0" rIns="0" tIns="0" bIns="0" anchor="t">
            <a:spAutoFit/>
          </a:bodyPr>
          <a:lstStyle/>
          <a:p>
            <a:pPr>
              <a:lnSpc>
                <a:spcPts val="1521"/>
              </a:lnSpc>
              <a:spcBef>
                <a:spcPts val="0"/>
              </a:spcBef>
              <a:spcAft>
                <a:spcPts val="0"/>
              </a:spcAft>
            </a:pPr>
            <a:r>
              <a:rPr sz="1300" b="0">
                <a:solidFill>
                  <a:srgbClr val="647064"/>
                </a:solidFill>
                <a:latin typeface="Arial"/>
              </a:rPr>
              <a:t>Fallback</a:t>
            </a:r>
          </a:p>
        </p:txBody>
      </p:sp>
      <p:sp>
        <p:nvSpPr>
          <p:cNvPr id="30" name="TextBox 29"/>
          <p:cNvSpPr txBox="1"/>
          <p:nvPr/>
        </p:nvSpPr>
        <p:spPr>
          <a:xfrm>
            <a:off x="7975599" y="4851400"/>
            <a:ext cx="3454400" cy="246126"/>
          </a:xfrm>
          <a:prstGeom prst="rect">
            <a:avLst/>
          </a:prstGeom>
          <a:noFill/>
        </p:spPr>
        <p:txBody>
          <a:bodyPr wrap="none" lIns="0" rIns="0" tIns="0" bIns="0" anchor="t">
            <a:spAutoFit/>
          </a:bodyPr>
          <a:lstStyle/>
          <a:p>
            <a:pPr>
              <a:lnSpc>
                <a:spcPts val="1638"/>
              </a:lnSpc>
              <a:spcBef>
                <a:spcPts val="0"/>
              </a:spcBef>
              <a:spcAft>
                <a:spcPts val="0"/>
              </a:spcAft>
            </a:pPr>
            <a:r>
              <a:rPr sz="1400" b="1">
                <a:solidFill>
                  <a:srgbClr val="27332C"/>
                </a:solidFill>
                <a:latin typeface="Arial"/>
              </a:rPr>
              <a:t>Disabled; no fallback used</a:t>
            </a:r>
          </a:p>
        </p:txBody>
      </p:sp>
      <p:sp>
        <p:nvSpPr>
          <p:cNvPr id="31" name="TextBox 30"/>
          <p:cNvSpPr txBox="1"/>
          <p:nvPr/>
        </p:nvSpPr>
        <p:spPr>
          <a:xfrm>
            <a:off x="508000" y="5905500"/>
            <a:ext cx="11176000" cy="231267"/>
          </a:xfrm>
          <a:prstGeom prst="rect">
            <a:avLst/>
          </a:prstGeom>
          <a:noFill/>
        </p:spPr>
        <p:txBody>
          <a:bodyPr wrap="none" lIns="0" rIns="0" tIns="0" bIns="0" anchor="t">
            <a:spAutoFit/>
          </a:bodyPr>
          <a:lstStyle/>
          <a:p>
            <a:pPr>
              <a:lnSpc>
                <a:spcPts val="1521"/>
              </a:lnSpc>
              <a:spcBef>
                <a:spcPts val="0"/>
              </a:spcBef>
              <a:spcAft>
                <a:spcPts val="0"/>
              </a:spcAft>
            </a:pPr>
            <a:r>
              <a:rPr sz="1300" b="0">
                <a:solidFill>
                  <a:srgbClr val="647064"/>
                </a:solidFill>
                <a:latin typeface="Arial"/>
              </a:rPr>
              <a:t>No GPU replay or GPU speedup is claimed. The model API is the AMD workload.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6EF"/>
        </a:solidFill>
        <a:effectLst/>
      </p:bgPr>
    </p:bg>
    <p:spTree>
      <p:nvGrpSpPr>
        <p:cNvPr id="1" name=""/>
        <p:cNvGrpSpPr/>
        <p:nvPr/>
      </p:nvGrpSpPr>
      <p:grpSpPr/>
      <p:sp>
        <p:nvSpPr>
          <p:cNvPr id="2" name="Rectangle 1"/>
          <p:cNvSpPr/>
          <p:nvPr/>
        </p:nvSpPr>
        <p:spPr>
          <a:xfrm>
            <a:off x="482600" y="508000"/>
            <a:ext cx="50800" cy="152400"/>
          </a:xfrm>
          <a:prstGeom prst="rect">
            <a:avLst/>
          </a:prstGeom>
          <a:solidFill>
            <a:srgbClr val="D45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71500" y="406400"/>
            <a:ext cx="50800" cy="254000"/>
          </a:xfrm>
          <a:prstGeom prst="rect">
            <a:avLst/>
          </a:prstGeom>
          <a:solidFill>
            <a:srgbClr val="D45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60400" y="317500"/>
            <a:ext cx="50800" cy="342900"/>
          </a:xfrm>
          <a:prstGeom prst="rect">
            <a:avLst/>
          </a:prstGeom>
          <a:solidFill>
            <a:srgbClr val="D45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3600" y="368300"/>
            <a:ext cx="2286000" cy="216408"/>
          </a:xfrm>
          <a:prstGeom prst="rect">
            <a:avLst/>
          </a:prstGeom>
          <a:noFill/>
        </p:spPr>
        <p:txBody>
          <a:bodyPr wrap="none" lIns="0" rIns="0" tIns="0" bIns="0" anchor="t">
            <a:spAutoFit/>
          </a:bodyPr>
          <a:lstStyle/>
          <a:p>
            <a:pPr>
              <a:lnSpc>
                <a:spcPts val="1404"/>
              </a:lnSpc>
              <a:spcBef>
                <a:spcPts val="0"/>
              </a:spcBef>
              <a:spcAft>
                <a:spcPts val="0"/>
              </a:spcAft>
            </a:pPr>
            <a:r>
              <a:rPr sz="1200" b="1">
                <a:solidFill>
                  <a:srgbClr val="27332C"/>
                </a:solidFill>
                <a:latin typeface="Arial"/>
              </a:rPr>
              <a:t>REHEARSAL</a:t>
            </a:r>
          </a:p>
        </p:txBody>
      </p:sp>
      <p:sp>
        <p:nvSpPr>
          <p:cNvPr id="6" name="TextBox 5"/>
          <p:cNvSpPr txBox="1"/>
          <p:nvPr/>
        </p:nvSpPr>
        <p:spPr>
          <a:xfrm>
            <a:off x="5334000" y="381000"/>
            <a:ext cx="6223000" cy="186690"/>
          </a:xfrm>
          <a:prstGeom prst="rect">
            <a:avLst/>
          </a:prstGeom>
          <a:noFill/>
        </p:spPr>
        <p:txBody>
          <a:bodyPr wrap="none" lIns="0" rIns="0" tIns="0" bIns="0" anchor="t">
            <a:spAutoFit/>
          </a:bodyPr>
          <a:lstStyle/>
          <a:p>
            <a:pPr>
              <a:lnSpc>
                <a:spcPts val="1170"/>
              </a:lnSpc>
              <a:spcBef>
                <a:spcPts val="0"/>
              </a:spcBef>
              <a:spcAft>
                <a:spcPts val="0"/>
              </a:spcAft>
            </a:pPr>
            <a:r>
              <a:rPr sz="1000" b="0">
                <a:solidFill>
                  <a:srgbClr val="647064"/>
                </a:solidFill>
                <a:latin typeface="Arial"/>
              </a:rPr>
              <a:t>EVIDENCE AND ITS LIMITS</a:t>
            </a:r>
          </a:p>
        </p:txBody>
      </p:sp>
      <p:sp>
        <p:nvSpPr>
          <p:cNvPr id="7" name="TextBox 6"/>
          <p:cNvSpPr txBox="1"/>
          <p:nvPr/>
        </p:nvSpPr>
        <p:spPr>
          <a:xfrm>
            <a:off x="482600" y="6515100"/>
            <a:ext cx="7620000" cy="156972"/>
          </a:xfrm>
          <a:prstGeom prst="rect">
            <a:avLst/>
          </a:prstGeom>
          <a:noFill/>
        </p:spPr>
        <p:txBody>
          <a:bodyPr wrap="none" lIns="0" rIns="0" tIns="0" bIns="0" anchor="t">
            <a:spAutoFit/>
          </a:bodyPr>
          <a:lstStyle/>
          <a:p>
            <a:pPr>
              <a:lnSpc>
                <a:spcPts val="936"/>
              </a:lnSpc>
              <a:spcBef>
                <a:spcPts val="0"/>
              </a:spcBef>
              <a:spcAft>
                <a:spcPts val="0"/>
              </a:spcAft>
            </a:pPr>
            <a:r>
              <a:rPr sz="800" b="0">
                <a:solidFill>
                  <a:srgbClr val="647064"/>
                </a:solidFill>
                <a:latin typeface="Arial"/>
              </a:rPr>
              <a:t>FORGE AHEAD / AMD DEVELOPER HACKATHON: ACT III</a:t>
            </a:r>
          </a:p>
        </p:txBody>
      </p:sp>
      <p:sp>
        <p:nvSpPr>
          <p:cNvPr id="8" name="TextBox 7"/>
          <p:cNvSpPr txBox="1"/>
          <p:nvPr/>
        </p:nvSpPr>
        <p:spPr>
          <a:xfrm>
            <a:off x="11353800" y="6489700"/>
            <a:ext cx="381000" cy="186690"/>
          </a:xfrm>
          <a:prstGeom prst="rect">
            <a:avLst/>
          </a:prstGeom>
          <a:noFill/>
        </p:spPr>
        <p:txBody>
          <a:bodyPr wrap="none" lIns="0" rIns="0" tIns="0" bIns="0" anchor="t">
            <a:spAutoFit/>
          </a:bodyPr>
          <a:lstStyle/>
          <a:p>
            <a:pPr>
              <a:lnSpc>
                <a:spcPts val="1170"/>
              </a:lnSpc>
              <a:spcBef>
                <a:spcPts val="0"/>
              </a:spcBef>
              <a:spcAft>
                <a:spcPts val="0"/>
              </a:spcAft>
            </a:pPr>
            <a:r>
              <a:rPr sz="1000" b="0">
                <a:solidFill>
                  <a:srgbClr val="647064"/>
                </a:solidFill>
                <a:latin typeface="Arial"/>
              </a:rPr>
              <a:t>08</a:t>
            </a:r>
          </a:p>
        </p:txBody>
      </p:sp>
      <p:sp>
        <p:nvSpPr>
          <p:cNvPr id="9" name="TextBox 8"/>
          <p:cNvSpPr txBox="1"/>
          <p:nvPr/>
        </p:nvSpPr>
        <p:spPr>
          <a:xfrm>
            <a:off x="482600" y="6223000"/>
            <a:ext cx="10160000" cy="156972"/>
          </a:xfrm>
          <a:prstGeom prst="rect">
            <a:avLst/>
          </a:prstGeom>
          <a:noFill/>
        </p:spPr>
        <p:txBody>
          <a:bodyPr wrap="none" lIns="0" rIns="0" tIns="0" bIns="0" anchor="t">
            <a:spAutoFit/>
          </a:bodyPr>
          <a:lstStyle/>
          <a:p>
            <a:pPr>
              <a:lnSpc>
                <a:spcPts val="936"/>
              </a:lnSpc>
              <a:spcBef>
                <a:spcPts val="0"/>
              </a:spcBef>
              <a:spcAft>
                <a:spcPts val="0"/>
              </a:spcAft>
            </a:pPr>
            <a:r>
              <a:rPr sz="800" b="0">
                <a:solidFill>
                  <a:srgbClr val="647064"/>
                </a:solidFill>
                <a:latin typeface="Arial"/>
                <a:hlinkClick r:id="rId2"/>
              </a:rPr>
              <a:t>Evidence / source</a:t>
            </a:r>
          </a:p>
        </p:txBody>
      </p:sp>
      <p:sp>
        <p:nvSpPr>
          <p:cNvPr id="10" name="TextBox 9"/>
          <p:cNvSpPr txBox="1"/>
          <p:nvPr/>
        </p:nvSpPr>
        <p:spPr>
          <a:xfrm>
            <a:off x="482600" y="1054100"/>
            <a:ext cx="11226800" cy="1054100"/>
          </a:xfrm>
          <a:prstGeom prst="rect">
            <a:avLst/>
          </a:prstGeom>
          <a:noFill/>
        </p:spPr>
        <p:txBody>
          <a:bodyPr wrap="none" lIns="0" rIns="0" tIns="0" bIns="0" anchor="t">
            <a:spAutoFit/>
          </a:bodyPr>
          <a:lstStyle/>
          <a:p>
            <a:pPr>
              <a:lnSpc>
                <a:spcPts val="4000"/>
              </a:lnSpc>
              <a:spcBef>
                <a:spcPts val="0"/>
              </a:spcBef>
              <a:spcAft>
                <a:spcPts val="0"/>
              </a:spcAft>
            </a:pPr>
            <a:r>
              <a:rPr sz="3700" b="1">
                <a:solidFill>
                  <a:srgbClr val="27332C"/>
                </a:solidFill>
                <a:latin typeface="Arial"/>
              </a:rPr>
              <a:t>Small tests.</a:t>
            </a:r>
          </a:p>
          <a:p>
            <a:pPr>
              <a:lnSpc>
                <a:spcPts val="4000"/>
              </a:lnSpc>
              <a:spcBef>
                <a:spcPts val="0"/>
              </a:spcBef>
              <a:spcAft>
                <a:spcPts val="0"/>
              </a:spcAft>
            </a:pPr>
            <a:r>
              <a:rPr sz="3700" b="1">
                <a:solidFill>
                  <a:srgbClr val="27332C"/>
                </a:solidFill>
                <a:latin typeface="Arial"/>
              </a:rPr>
              <a:t>Visible limits.</a:t>
            </a:r>
          </a:p>
        </p:txBody>
      </p:sp>
      <p:sp>
        <p:nvSpPr>
          <p:cNvPr id="11" name="TextBox 10"/>
          <p:cNvSpPr txBox="1"/>
          <p:nvPr/>
        </p:nvSpPr>
        <p:spPr>
          <a:xfrm>
            <a:off x="508000" y="2425700"/>
            <a:ext cx="4483100" cy="231267"/>
          </a:xfrm>
          <a:prstGeom prst="rect">
            <a:avLst/>
          </a:prstGeom>
          <a:noFill/>
        </p:spPr>
        <p:txBody>
          <a:bodyPr wrap="none" lIns="0" rIns="0" tIns="0" bIns="0" anchor="t">
            <a:spAutoFit/>
          </a:bodyPr>
          <a:lstStyle/>
          <a:p>
            <a:pPr>
              <a:lnSpc>
                <a:spcPts val="1521"/>
              </a:lnSpc>
              <a:spcBef>
                <a:spcPts val="0"/>
              </a:spcBef>
              <a:spcAft>
                <a:spcPts val="0"/>
              </a:spcAft>
            </a:pPr>
            <a:r>
              <a:rPr sz="1300" b="1">
                <a:solidFill>
                  <a:srgbClr val="647064"/>
                </a:solidFill>
                <a:latin typeface="Arial"/>
              </a:rPr>
              <a:t>Extractor / labels</a:t>
            </a:r>
          </a:p>
        </p:txBody>
      </p:sp>
      <p:sp>
        <p:nvSpPr>
          <p:cNvPr id="12" name="TextBox 11"/>
          <p:cNvSpPr txBox="1"/>
          <p:nvPr/>
        </p:nvSpPr>
        <p:spPr>
          <a:xfrm>
            <a:off x="5334000" y="2425700"/>
            <a:ext cx="2222500" cy="231267"/>
          </a:xfrm>
          <a:prstGeom prst="rect">
            <a:avLst/>
          </a:prstGeom>
          <a:noFill/>
        </p:spPr>
        <p:txBody>
          <a:bodyPr wrap="none" lIns="0" rIns="0" tIns="0" bIns="0" anchor="t">
            <a:spAutoFit/>
          </a:bodyPr>
          <a:lstStyle/>
          <a:p>
            <a:pPr>
              <a:lnSpc>
                <a:spcPts val="1521"/>
              </a:lnSpc>
              <a:spcBef>
                <a:spcPts val="0"/>
              </a:spcBef>
              <a:spcAft>
                <a:spcPts val="0"/>
              </a:spcAft>
            </a:pPr>
            <a:r>
              <a:rPr sz="1300" b="1">
                <a:solidFill>
                  <a:srgbClr val="647064"/>
                </a:solidFill>
                <a:latin typeface="Arial"/>
              </a:rPr>
              <a:t>Complete changes</a:t>
            </a:r>
          </a:p>
        </p:txBody>
      </p:sp>
      <p:sp>
        <p:nvSpPr>
          <p:cNvPr id="13" name="TextBox 12"/>
          <p:cNvSpPr txBox="1"/>
          <p:nvPr/>
        </p:nvSpPr>
        <p:spPr>
          <a:xfrm>
            <a:off x="7937500" y="2425700"/>
            <a:ext cx="1587500" cy="231267"/>
          </a:xfrm>
          <a:prstGeom prst="rect">
            <a:avLst/>
          </a:prstGeom>
          <a:noFill/>
        </p:spPr>
        <p:txBody>
          <a:bodyPr wrap="none" lIns="0" rIns="0" tIns="0" bIns="0" anchor="t">
            <a:spAutoFit/>
          </a:bodyPr>
          <a:lstStyle/>
          <a:p>
            <a:pPr>
              <a:lnSpc>
                <a:spcPts val="1521"/>
              </a:lnSpc>
              <a:spcBef>
                <a:spcPts val="0"/>
              </a:spcBef>
              <a:spcAft>
                <a:spcPts val="0"/>
              </a:spcAft>
            </a:pPr>
            <a:r>
              <a:rPr sz="1300" b="1">
                <a:solidFill>
                  <a:srgbClr val="647064"/>
                </a:solidFill>
                <a:latin typeface="Arial"/>
              </a:rPr>
              <a:t>Wrong “OK”</a:t>
            </a:r>
          </a:p>
        </p:txBody>
      </p:sp>
      <p:sp>
        <p:nvSpPr>
          <p:cNvPr id="14" name="TextBox 13"/>
          <p:cNvSpPr txBox="1"/>
          <p:nvPr/>
        </p:nvSpPr>
        <p:spPr>
          <a:xfrm>
            <a:off x="9842500" y="2425700"/>
            <a:ext cx="1841500" cy="231267"/>
          </a:xfrm>
          <a:prstGeom prst="rect">
            <a:avLst/>
          </a:prstGeom>
          <a:noFill/>
        </p:spPr>
        <p:txBody>
          <a:bodyPr wrap="none" lIns="0" rIns="0" tIns="0" bIns="0" anchor="t">
            <a:spAutoFit/>
          </a:bodyPr>
          <a:lstStyle/>
          <a:p>
            <a:pPr>
              <a:lnSpc>
                <a:spcPts val="1521"/>
              </a:lnSpc>
              <a:spcBef>
                <a:spcPts val="0"/>
              </a:spcBef>
              <a:spcAft>
                <a:spcPts val="0"/>
              </a:spcAft>
            </a:pPr>
            <a:r>
              <a:rPr sz="1300" b="1">
                <a:solidFill>
                  <a:srgbClr val="647064"/>
                </a:solidFill>
                <a:latin typeface="Arial"/>
              </a:rPr>
              <a:t>Review raised</a:t>
            </a:r>
          </a:p>
        </p:txBody>
      </p:sp>
      <p:sp>
        <p:nvSpPr>
          <p:cNvPr id="15" name="Rounded Rectangle 14"/>
          <p:cNvSpPr/>
          <p:nvPr/>
        </p:nvSpPr>
        <p:spPr>
          <a:xfrm>
            <a:off x="482600" y="2806700"/>
            <a:ext cx="11226800" cy="596900"/>
          </a:xfrm>
          <a:prstGeom prst="roundRect">
            <a:avLst/>
          </a:prstGeom>
          <a:solidFill>
            <a:srgbClr val="E8EC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6900" y="2971800"/>
            <a:ext cx="4305300" cy="290703"/>
          </a:xfrm>
          <a:prstGeom prst="rect">
            <a:avLst/>
          </a:prstGeom>
          <a:noFill/>
        </p:spPr>
        <p:txBody>
          <a:bodyPr wrap="none" lIns="0" rIns="0" tIns="0" bIns="0" anchor="t">
            <a:spAutoFit/>
          </a:bodyPr>
          <a:lstStyle/>
          <a:p>
            <a:pPr>
              <a:lnSpc>
                <a:spcPts val="1989"/>
              </a:lnSpc>
              <a:spcBef>
                <a:spcPts val="0"/>
              </a:spcBef>
              <a:spcAft>
                <a:spcPts val="0"/>
              </a:spcAft>
            </a:pPr>
            <a:r>
              <a:rPr sz="1700" b="1">
                <a:solidFill>
                  <a:srgbClr val="27332C"/>
                </a:solidFill>
                <a:latin typeface="Arial"/>
              </a:rPr>
              <a:t>Rules / Muskan</a:t>
            </a:r>
          </a:p>
        </p:txBody>
      </p:sp>
      <p:sp>
        <p:nvSpPr>
          <p:cNvPr id="17" name="TextBox 16"/>
          <p:cNvSpPr txBox="1"/>
          <p:nvPr/>
        </p:nvSpPr>
        <p:spPr>
          <a:xfrm>
            <a:off x="5422900" y="2971800"/>
            <a:ext cx="2044700" cy="290703"/>
          </a:xfrm>
          <a:prstGeom prst="rect">
            <a:avLst/>
          </a:prstGeom>
          <a:noFill/>
        </p:spPr>
        <p:txBody>
          <a:bodyPr wrap="none" lIns="0" rIns="0" tIns="0" bIns="0" anchor="t">
            <a:spAutoFit/>
          </a:bodyPr>
          <a:lstStyle/>
          <a:p>
            <a:pPr>
              <a:lnSpc>
                <a:spcPts val="1989"/>
              </a:lnSpc>
              <a:spcBef>
                <a:spcPts val="0"/>
              </a:spcBef>
              <a:spcAft>
                <a:spcPts val="0"/>
              </a:spcAft>
            </a:pPr>
            <a:r>
              <a:rPr sz="1700" b="1">
                <a:solidFill>
                  <a:srgbClr val="27332C"/>
                </a:solidFill>
                <a:latin typeface="Arial"/>
              </a:rPr>
              <a:t>13 / 23</a:t>
            </a:r>
          </a:p>
        </p:txBody>
      </p:sp>
      <p:sp>
        <p:nvSpPr>
          <p:cNvPr id="18" name="TextBox 17"/>
          <p:cNvSpPr txBox="1"/>
          <p:nvPr/>
        </p:nvSpPr>
        <p:spPr>
          <a:xfrm>
            <a:off x="8026400" y="2971800"/>
            <a:ext cx="1409700" cy="290703"/>
          </a:xfrm>
          <a:prstGeom prst="rect">
            <a:avLst/>
          </a:prstGeom>
          <a:noFill/>
        </p:spPr>
        <p:txBody>
          <a:bodyPr wrap="none" lIns="0" rIns="0" tIns="0" bIns="0" anchor="t">
            <a:spAutoFit/>
          </a:bodyPr>
          <a:lstStyle/>
          <a:p>
            <a:pPr>
              <a:lnSpc>
                <a:spcPts val="1989"/>
              </a:lnSpc>
              <a:spcBef>
                <a:spcPts val="0"/>
              </a:spcBef>
              <a:spcAft>
                <a:spcPts val="0"/>
              </a:spcAft>
            </a:pPr>
            <a:r>
              <a:rPr sz="1700" b="0">
                <a:solidFill>
                  <a:srgbClr val="27332C"/>
                </a:solidFill>
                <a:latin typeface="Arial"/>
              </a:rPr>
              <a:t>2</a:t>
            </a:r>
          </a:p>
        </p:txBody>
      </p:sp>
      <p:sp>
        <p:nvSpPr>
          <p:cNvPr id="19" name="TextBox 18"/>
          <p:cNvSpPr txBox="1"/>
          <p:nvPr/>
        </p:nvSpPr>
        <p:spPr>
          <a:xfrm>
            <a:off x="9931400" y="2971800"/>
            <a:ext cx="1663700" cy="290703"/>
          </a:xfrm>
          <a:prstGeom prst="rect">
            <a:avLst/>
          </a:prstGeom>
          <a:noFill/>
        </p:spPr>
        <p:txBody>
          <a:bodyPr wrap="none" lIns="0" rIns="0" tIns="0" bIns="0" anchor="t">
            <a:spAutoFit/>
          </a:bodyPr>
          <a:lstStyle/>
          <a:p>
            <a:pPr>
              <a:lnSpc>
                <a:spcPts val="1989"/>
              </a:lnSpc>
              <a:spcBef>
                <a:spcPts val="0"/>
              </a:spcBef>
              <a:spcAft>
                <a:spcPts val="0"/>
              </a:spcAft>
            </a:pPr>
            <a:r>
              <a:rPr sz="1700" b="0">
                <a:solidFill>
                  <a:srgbClr val="27332C"/>
                </a:solidFill>
                <a:latin typeface="Arial"/>
              </a:rPr>
              <a:t>9 / 12</a:t>
            </a:r>
          </a:p>
        </p:txBody>
      </p:sp>
      <p:sp>
        <p:nvSpPr>
          <p:cNvPr id="20" name="Rounded Rectangle 19"/>
          <p:cNvSpPr/>
          <p:nvPr/>
        </p:nvSpPr>
        <p:spPr>
          <a:xfrm>
            <a:off x="482600" y="3492500"/>
            <a:ext cx="11226800" cy="596900"/>
          </a:xfrm>
          <a:prstGeom prst="roundRect">
            <a:avLst/>
          </a:prstGeom>
          <a:solidFill>
            <a:srgbClr val="2733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96900" y="3657600"/>
            <a:ext cx="4305300" cy="290703"/>
          </a:xfrm>
          <a:prstGeom prst="rect">
            <a:avLst/>
          </a:prstGeom>
          <a:noFill/>
        </p:spPr>
        <p:txBody>
          <a:bodyPr wrap="none" lIns="0" rIns="0" tIns="0" bIns="0" anchor="t">
            <a:spAutoFit/>
          </a:bodyPr>
          <a:lstStyle/>
          <a:p>
            <a:pPr>
              <a:lnSpc>
                <a:spcPts val="1989"/>
              </a:lnSpc>
              <a:spcBef>
                <a:spcPts val="0"/>
              </a:spcBef>
              <a:spcAft>
                <a:spcPts val="0"/>
              </a:spcAft>
            </a:pPr>
            <a:r>
              <a:rPr sz="1700" b="1">
                <a:solidFill>
                  <a:srgbClr val="FFFFFF"/>
                </a:solidFill>
                <a:latin typeface="Arial"/>
              </a:rPr>
              <a:t>AMD / Muskan</a:t>
            </a:r>
          </a:p>
        </p:txBody>
      </p:sp>
      <p:sp>
        <p:nvSpPr>
          <p:cNvPr id="22" name="TextBox 21"/>
          <p:cNvSpPr txBox="1"/>
          <p:nvPr/>
        </p:nvSpPr>
        <p:spPr>
          <a:xfrm>
            <a:off x="5422900" y="3657600"/>
            <a:ext cx="2044700" cy="290703"/>
          </a:xfrm>
          <a:prstGeom prst="rect">
            <a:avLst/>
          </a:prstGeom>
          <a:noFill/>
        </p:spPr>
        <p:txBody>
          <a:bodyPr wrap="none" lIns="0" rIns="0" tIns="0" bIns="0" anchor="t">
            <a:spAutoFit/>
          </a:bodyPr>
          <a:lstStyle/>
          <a:p>
            <a:pPr>
              <a:lnSpc>
                <a:spcPts val="1989"/>
              </a:lnSpc>
              <a:spcBef>
                <a:spcPts val="0"/>
              </a:spcBef>
              <a:spcAft>
                <a:spcPts val="0"/>
              </a:spcAft>
            </a:pPr>
            <a:r>
              <a:rPr sz="1700" b="1">
                <a:solidFill>
                  <a:srgbClr val="FFFFFF"/>
                </a:solidFill>
                <a:latin typeface="Arial"/>
              </a:rPr>
              <a:t>23 / 23</a:t>
            </a:r>
          </a:p>
        </p:txBody>
      </p:sp>
      <p:sp>
        <p:nvSpPr>
          <p:cNvPr id="23" name="TextBox 22"/>
          <p:cNvSpPr txBox="1"/>
          <p:nvPr/>
        </p:nvSpPr>
        <p:spPr>
          <a:xfrm>
            <a:off x="8026400" y="3657600"/>
            <a:ext cx="1409700" cy="290703"/>
          </a:xfrm>
          <a:prstGeom prst="rect">
            <a:avLst/>
          </a:prstGeom>
          <a:noFill/>
        </p:spPr>
        <p:txBody>
          <a:bodyPr wrap="none" lIns="0" rIns="0" tIns="0" bIns="0" anchor="t">
            <a:spAutoFit/>
          </a:bodyPr>
          <a:lstStyle/>
          <a:p>
            <a:pPr>
              <a:lnSpc>
                <a:spcPts val="1989"/>
              </a:lnSpc>
              <a:spcBef>
                <a:spcPts val="0"/>
              </a:spcBef>
              <a:spcAft>
                <a:spcPts val="0"/>
              </a:spcAft>
            </a:pPr>
            <a:r>
              <a:rPr sz="1700" b="0">
                <a:solidFill>
                  <a:srgbClr val="FFFFFF"/>
                </a:solidFill>
                <a:latin typeface="Arial"/>
              </a:rPr>
              <a:t>0</a:t>
            </a:r>
          </a:p>
        </p:txBody>
      </p:sp>
      <p:sp>
        <p:nvSpPr>
          <p:cNvPr id="24" name="TextBox 23"/>
          <p:cNvSpPr txBox="1"/>
          <p:nvPr/>
        </p:nvSpPr>
        <p:spPr>
          <a:xfrm>
            <a:off x="9931400" y="3657600"/>
            <a:ext cx="1663700" cy="290703"/>
          </a:xfrm>
          <a:prstGeom prst="rect">
            <a:avLst/>
          </a:prstGeom>
          <a:noFill/>
        </p:spPr>
        <p:txBody>
          <a:bodyPr wrap="none" lIns="0" rIns="0" tIns="0" bIns="0" anchor="t">
            <a:spAutoFit/>
          </a:bodyPr>
          <a:lstStyle/>
          <a:p>
            <a:pPr>
              <a:lnSpc>
                <a:spcPts val="1989"/>
              </a:lnSpc>
              <a:spcBef>
                <a:spcPts val="0"/>
              </a:spcBef>
              <a:spcAft>
                <a:spcPts val="0"/>
              </a:spcAft>
            </a:pPr>
            <a:r>
              <a:rPr sz="1700" b="0">
                <a:solidFill>
                  <a:srgbClr val="FFFFFF"/>
                </a:solidFill>
                <a:latin typeface="Arial"/>
              </a:rPr>
              <a:t>12 / 12</a:t>
            </a:r>
          </a:p>
        </p:txBody>
      </p:sp>
      <p:sp>
        <p:nvSpPr>
          <p:cNvPr id="25" name="Rounded Rectangle 24"/>
          <p:cNvSpPr/>
          <p:nvPr/>
        </p:nvSpPr>
        <p:spPr>
          <a:xfrm>
            <a:off x="482600" y="4178300"/>
            <a:ext cx="11226800" cy="596900"/>
          </a:xfrm>
          <a:prstGeom prst="roundRect">
            <a:avLst/>
          </a:prstGeom>
          <a:solidFill>
            <a:srgbClr val="E8EC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96900" y="4343400"/>
            <a:ext cx="4305300" cy="290703"/>
          </a:xfrm>
          <a:prstGeom prst="rect">
            <a:avLst/>
          </a:prstGeom>
          <a:noFill/>
        </p:spPr>
        <p:txBody>
          <a:bodyPr wrap="none" lIns="0" rIns="0" tIns="0" bIns="0" anchor="t">
            <a:spAutoFit/>
          </a:bodyPr>
          <a:lstStyle/>
          <a:p>
            <a:pPr>
              <a:lnSpc>
                <a:spcPts val="1989"/>
              </a:lnSpc>
              <a:spcBef>
                <a:spcPts val="0"/>
              </a:spcBef>
              <a:spcAft>
                <a:spcPts val="0"/>
              </a:spcAft>
            </a:pPr>
            <a:r>
              <a:rPr sz="1700" b="1">
                <a:solidFill>
                  <a:srgbClr val="27332C"/>
                </a:solidFill>
                <a:latin typeface="Arial"/>
              </a:rPr>
              <a:t>Same AMD / Abhishek</a:t>
            </a:r>
          </a:p>
        </p:txBody>
      </p:sp>
      <p:sp>
        <p:nvSpPr>
          <p:cNvPr id="27" name="TextBox 26"/>
          <p:cNvSpPr txBox="1"/>
          <p:nvPr/>
        </p:nvSpPr>
        <p:spPr>
          <a:xfrm>
            <a:off x="5422900" y="4343400"/>
            <a:ext cx="2044700" cy="290703"/>
          </a:xfrm>
          <a:prstGeom prst="rect">
            <a:avLst/>
          </a:prstGeom>
          <a:noFill/>
        </p:spPr>
        <p:txBody>
          <a:bodyPr wrap="none" lIns="0" rIns="0" tIns="0" bIns="0" anchor="t">
            <a:spAutoFit/>
          </a:bodyPr>
          <a:lstStyle/>
          <a:p>
            <a:pPr>
              <a:lnSpc>
                <a:spcPts val="1989"/>
              </a:lnSpc>
              <a:spcBef>
                <a:spcPts val="0"/>
              </a:spcBef>
              <a:spcAft>
                <a:spcPts val="0"/>
              </a:spcAft>
            </a:pPr>
            <a:r>
              <a:rPr sz="1700" b="1">
                <a:solidFill>
                  <a:srgbClr val="27332C"/>
                </a:solidFill>
                <a:latin typeface="Arial"/>
              </a:rPr>
              <a:t>21 / 23</a:t>
            </a:r>
          </a:p>
        </p:txBody>
      </p:sp>
      <p:sp>
        <p:nvSpPr>
          <p:cNvPr id="28" name="TextBox 27"/>
          <p:cNvSpPr txBox="1"/>
          <p:nvPr/>
        </p:nvSpPr>
        <p:spPr>
          <a:xfrm>
            <a:off x="8026400" y="4343400"/>
            <a:ext cx="1409700" cy="290703"/>
          </a:xfrm>
          <a:prstGeom prst="rect">
            <a:avLst/>
          </a:prstGeom>
          <a:noFill/>
        </p:spPr>
        <p:txBody>
          <a:bodyPr wrap="none" lIns="0" rIns="0" tIns="0" bIns="0" anchor="t">
            <a:spAutoFit/>
          </a:bodyPr>
          <a:lstStyle/>
          <a:p>
            <a:pPr>
              <a:lnSpc>
                <a:spcPts val="1989"/>
              </a:lnSpc>
              <a:spcBef>
                <a:spcPts val="0"/>
              </a:spcBef>
              <a:spcAft>
                <a:spcPts val="0"/>
              </a:spcAft>
            </a:pPr>
            <a:r>
              <a:rPr sz="1700" b="0">
                <a:solidFill>
                  <a:srgbClr val="27332C"/>
                </a:solidFill>
                <a:latin typeface="Arial"/>
              </a:rPr>
              <a:t>0</a:t>
            </a:r>
          </a:p>
        </p:txBody>
      </p:sp>
      <p:sp>
        <p:nvSpPr>
          <p:cNvPr id="29" name="TextBox 28"/>
          <p:cNvSpPr txBox="1"/>
          <p:nvPr/>
        </p:nvSpPr>
        <p:spPr>
          <a:xfrm>
            <a:off x="9931400" y="4343400"/>
            <a:ext cx="1663700" cy="290703"/>
          </a:xfrm>
          <a:prstGeom prst="rect">
            <a:avLst/>
          </a:prstGeom>
          <a:noFill/>
        </p:spPr>
        <p:txBody>
          <a:bodyPr wrap="none" lIns="0" rIns="0" tIns="0" bIns="0" anchor="t">
            <a:spAutoFit/>
          </a:bodyPr>
          <a:lstStyle/>
          <a:p>
            <a:pPr>
              <a:lnSpc>
                <a:spcPts val="1989"/>
              </a:lnSpc>
              <a:spcBef>
                <a:spcPts val="0"/>
              </a:spcBef>
              <a:spcAft>
                <a:spcPts val="0"/>
              </a:spcAft>
            </a:pPr>
            <a:r>
              <a:rPr sz="1700" b="0">
                <a:solidFill>
                  <a:srgbClr val="27332C"/>
                </a:solidFill>
                <a:latin typeface="Arial"/>
              </a:rPr>
              <a:t>9 / 10</a:t>
            </a:r>
          </a:p>
        </p:txBody>
      </p:sp>
      <p:sp>
        <p:nvSpPr>
          <p:cNvPr id="30" name="TextBox 29"/>
          <p:cNvSpPr txBox="1"/>
          <p:nvPr/>
        </p:nvSpPr>
        <p:spPr>
          <a:xfrm>
            <a:off x="520700" y="5054600"/>
            <a:ext cx="11137900" cy="483869"/>
          </a:xfrm>
          <a:prstGeom prst="rect">
            <a:avLst/>
          </a:prstGeom>
          <a:noFill/>
        </p:spPr>
        <p:txBody>
          <a:bodyPr wrap="none" lIns="0" rIns="0" tIns="0" bIns="0" anchor="t">
            <a:spAutoFit/>
          </a:bodyPr>
          <a:lstStyle/>
          <a:p>
            <a:pPr>
              <a:lnSpc>
                <a:spcPts val="1754"/>
              </a:lnSpc>
              <a:spcBef>
                <a:spcPts val="0"/>
              </a:spcBef>
              <a:spcAft>
                <a:spcPts val="0"/>
              </a:spcAft>
            </a:pPr>
            <a:r>
              <a:rPr sz="1500" b="0">
                <a:solidFill>
                  <a:srgbClr val="647064"/>
                </a:solidFill>
                <a:latin typeface="Arial"/>
              </a:rPr>
              <a:t>23 team-written messages; they informed prompt tuning. Two provisional label sets.</a:t>
            </a:r>
          </a:p>
          <a:p>
            <a:pPr>
              <a:lnSpc>
                <a:spcPts val="1754"/>
              </a:lnSpc>
              <a:spcBef>
                <a:spcPts val="0"/>
              </a:spcBef>
              <a:spcAft>
                <a:spcPts val="0"/>
              </a:spcAft>
            </a:pPr>
            <a:r>
              <a:rPr sz="1500" b="0">
                <a:solidFill>
                  <a:srgbClr val="647064"/>
                </a:solidFill>
                <a:latin typeface="Arial"/>
              </a:rPr>
              <a:t>No independent benchmark or final reconciled extraction score is claimed.</a:t>
            </a:r>
          </a:p>
        </p:txBody>
      </p:sp>
      <p:sp>
        <p:nvSpPr>
          <p:cNvPr id="31" name="TextBox 30"/>
          <p:cNvSpPr txBox="1"/>
          <p:nvPr/>
        </p:nvSpPr>
        <p:spPr>
          <a:xfrm>
            <a:off x="520700" y="5740400"/>
            <a:ext cx="11137900" cy="424434"/>
          </a:xfrm>
          <a:prstGeom prst="rect">
            <a:avLst/>
          </a:prstGeom>
          <a:noFill/>
        </p:spPr>
        <p:txBody>
          <a:bodyPr wrap="none" lIns="0" rIns="0" tIns="0" bIns="0" anchor="t">
            <a:spAutoFit/>
          </a:bodyPr>
          <a:lstStyle/>
          <a:p>
            <a:pPr>
              <a:lnSpc>
                <a:spcPts val="1521"/>
              </a:lnSpc>
              <a:spcBef>
                <a:spcPts val="0"/>
              </a:spcBef>
              <a:spcAft>
                <a:spcPts val="0"/>
              </a:spcAft>
            </a:pPr>
            <a:r>
              <a:rPr sz="1300" b="0">
                <a:solidFill>
                  <a:srgbClr val="647064"/>
                </a:solidFill>
                <a:latin typeface="Arial"/>
              </a:rPr>
              <a:t>Also recorded: 7 frozen synthetic recovery scenarios, including an infeasible case.</a:t>
            </a:r>
          </a:p>
          <a:p>
            <a:pPr>
              <a:lnSpc>
                <a:spcPts val="1521"/>
              </a:lnSpc>
              <a:spcBef>
                <a:spcPts val="0"/>
              </a:spcBef>
              <a:spcAft>
                <a:spcPts val="0"/>
              </a:spcAft>
            </a:pPr>
            <a:r>
              <a:rPr sz="1300" b="0">
                <a:solidFill>
                  <a:srgbClr val="647064"/>
                </a:solidFill>
                <a:latin typeface="Arial"/>
              </a:rPr>
              <a:t>The repository retains unchanged outcomes and tradeoffs, not just improvements.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6EF"/>
        </a:solidFill>
        <a:effectLst/>
      </p:bgPr>
    </p:bg>
    <p:spTree>
      <p:nvGrpSpPr>
        <p:cNvPr id="1" name=""/>
        <p:cNvGrpSpPr/>
        <p:nvPr/>
      </p:nvGrpSpPr>
      <p:grpSpPr/>
      <p:sp>
        <p:nvSpPr>
          <p:cNvPr id="2" name="Rectangle 1"/>
          <p:cNvSpPr/>
          <p:nvPr/>
        </p:nvSpPr>
        <p:spPr>
          <a:xfrm>
            <a:off x="482600" y="508000"/>
            <a:ext cx="50800" cy="152400"/>
          </a:xfrm>
          <a:prstGeom prst="rect">
            <a:avLst/>
          </a:prstGeom>
          <a:solidFill>
            <a:srgbClr val="D45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71500" y="406400"/>
            <a:ext cx="50800" cy="254000"/>
          </a:xfrm>
          <a:prstGeom prst="rect">
            <a:avLst/>
          </a:prstGeom>
          <a:solidFill>
            <a:srgbClr val="D45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60400" y="317500"/>
            <a:ext cx="50800" cy="342900"/>
          </a:xfrm>
          <a:prstGeom prst="rect">
            <a:avLst/>
          </a:prstGeom>
          <a:solidFill>
            <a:srgbClr val="D45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3600" y="368300"/>
            <a:ext cx="2286000" cy="216408"/>
          </a:xfrm>
          <a:prstGeom prst="rect">
            <a:avLst/>
          </a:prstGeom>
          <a:noFill/>
        </p:spPr>
        <p:txBody>
          <a:bodyPr wrap="none" lIns="0" rIns="0" tIns="0" bIns="0" anchor="t">
            <a:spAutoFit/>
          </a:bodyPr>
          <a:lstStyle/>
          <a:p>
            <a:pPr>
              <a:lnSpc>
                <a:spcPts val="1404"/>
              </a:lnSpc>
              <a:spcBef>
                <a:spcPts val="0"/>
              </a:spcBef>
              <a:spcAft>
                <a:spcPts val="0"/>
              </a:spcAft>
            </a:pPr>
            <a:r>
              <a:rPr sz="1200" b="1">
                <a:solidFill>
                  <a:srgbClr val="27332C"/>
                </a:solidFill>
                <a:latin typeface="Arial"/>
              </a:rPr>
              <a:t>REHEARSAL</a:t>
            </a:r>
          </a:p>
        </p:txBody>
      </p:sp>
      <p:sp>
        <p:nvSpPr>
          <p:cNvPr id="6" name="TextBox 5"/>
          <p:cNvSpPr txBox="1"/>
          <p:nvPr/>
        </p:nvSpPr>
        <p:spPr>
          <a:xfrm>
            <a:off x="5334000" y="381000"/>
            <a:ext cx="6223000" cy="186690"/>
          </a:xfrm>
          <a:prstGeom prst="rect">
            <a:avLst/>
          </a:prstGeom>
          <a:noFill/>
        </p:spPr>
        <p:txBody>
          <a:bodyPr wrap="none" lIns="0" rIns="0" tIns="0" bIns="0" anchor="t">
            <a:spAutoFit/>
          </a:bodyPr>
          <a:lstStyle/>
          <a:p>
            <a:pPr>
              <a:lnSpc>
                <a:spcPts val="1170"/>
              </a:lnSpc>
              <a:spcBef>
                <a:spcPts val="0"/>
              </a:spcBef>
              <a:spcAft>
                <a:spcPts val="0"/>
              </a:spcAft>
            </a:pPr>
            <a:r>
              <a:rPr sz="1000" b="0">
                <a:solidFill>
                  <a:srgbClr val="647064"/>
                </a:solidFill>
                <a:latin typeface="Arial"/>
              </a:rPr>
              <a:t>BUSINESS VALUE AND THE NEXT PILOT</a:t>
            </a:r>
          </a:p>
        </p:txBody>
      </p:sp>
      <p:sp>
        <p:nvSpPr>
          <p:cNvPr id="7" name="TextBox 6"/>
          <p:cNvSpPr txBox="1"/>
          <p:nvPr/>
        </p:nvSpPr>
        <p:spPr>
          <a:xfrm>
            <a:off x="482600" y="6515100"/>
            <a:ext cx="7620000" cy="156972"/>
          </a:xfrm>
          <a:prstGeom prst="rect">
            <a:avLst/>
          </a:prstGeom>
          <a:noFill/>
        </p:spPr>
        <p:txBody>
          <a:bodyPr wrap="none" lIns="0" rIns="0" tIns="0" bIns="0" anchor="t">
            <a:spAutoFit/>
          </a:bodyPr>
          <a:lstStyle/>
          <a:p>
            <a:pPr>
              <a:lnSpc>
                <a:spcPts val="936"/>
              </a:lnSpc>
              <a:spcBef>
                <a:spcPts val="0"/>
              </a:spcBef>
              <a:spcAft>
                <a:spcPts val="0"/>
              </a:spcAft>
            </a:pPr>
            <a:r>
              <a:rPr sz="800" b="0">
                <a:solidFill>
                  <a:srgbClr val="647064"/>
                </a:solidFill>
                <a:latin typeface="Arial"/>
              </a:rPr>
              <a:t>FORGE AHEAD / AMD DEVELOPER HACKATHON: ACT III</a:t>
            </a:r>
          </a:p>
        </p:txBody>
      </p:sp>
      <p:sp>
        <p:nvSpPr>
          <p:cNvPr id="8" name="TextBox 7"/>
          <p:cNvSpPr txBox="1"/>
          <p:nvPr/>
        </p:nvSpPr>
        <p:spPr>
          <a:xfrm>
            <a:off x="11353800" y="6489700"/>
            <a:ext cx="381000" cy="186690"/>
          </a:xfrm>
          <a:prstGeom prst="rect">
            <a:avLst/>
          </a:prstGeom>
          <a:noFill/>
        </p:spPr>
        <p:txBody>
          <a:bodyPr wrap="none" lIns="0" rIns="0" tIns="0" bIns="0" anchor="t">
            <a:spAutoFit/>
          </a:bodyPr>
          <a:lstStyle/>
          <a:p>
            <a:pPr>
              <a:lnSpc>
                <a:spcPts val="1170"/>
              </a:lnSpc>
              <a:spcBef>
                <a:spcPts val="0"/>
              </a:spcBef>
              <a:spcAft>
                <a:spcPts val="0"/>
              </a:spcAft>
            </a:pPr>
            <a:r>
              <a:rPr sz="1000" b="0">
                <a:solidFill>
                  <a:srgbClr val="647064"/>
                </a:solidFill>
                <a:latin typeface="Arial"/>
              </a:rPr>
              <a:t>09</a:t>
            </a:r>
          </a:p>
        </p:txBody>
      </p:sp>
      <p:sp>
        <p:nvSpPr>
          <p:cNvPr id="9" name="TextBox 8"/>
          <p:cNvSpPr txBox="1"/>
          <p:nvPr/>
        </p:nvSpPr>
        <p:spPr>
          <a:xfrm>
            <a:off x="482600" y="6223000"/>
            <a:ext cx="10160000" cy="156972"/>
          </a:xfrm>
          <a:prstGeom prst="rect">
            <a:avLst/>
          </a:prstGeom>
          <a:noFill/>
        </p:spPr>
        <p:txBody>
          <a:bodyPr wrap="none" lIns="0" rIns="0" tIns="0" bIns="0" anchor="t">
            <a:spAutoFit/>
          </a:bodyPr>
          <a:lstStyle/>
          <a:p>
            <a:pPr>
              <a:lnSpc>
                <a:spcPts val="936"/>
              </a:lnSpc>
              <a:spcBef>
                <a:spcPts val="0"/>
              </a:spcBef>
              <a:spcAft>
                <a:spcPts val="0"/>
              </a:spcAft>
            </a:pPr>
            <a:r>
              <a:rPr sz="800" b="0">
                <a:solidFill>
                  <a:srgbClr val="647064"/>
                </a:solidFill>
                <a:latin typeface="Arial"/>
                <a:hlinkClick r:id="rId2"/>
              </a:rPr>
              <a:t>Evidence / source</a:t>
            </a:r>
          </a:p>
        </p:txBody>
      </p:sp>
      <p:sp>
        <p:nvSpPr>
          <p:cNvPr id="10" name="TextBox 9"/>
          <p:cNvSpPr txBox="1"/>
          <p:nvPr/>
        </p:nvSpPr>
        <p:spPr>
          <a:xfrm>
            <a:off x="482600" y="1054100"/>
            <a:ext cx="11226800" cy="1054100"/>
          </a:xfrm>
          <a:prstGeom prst="rect">
            <a:avLst/>
          </a:prstGeom>
          <a:noFill/>
        </p:spPr>
        <p:txBody>
          <a:bodyPr wrap="none" lIns="0" rIns="0" tIns="0" bIns="0" anchor="t">
            <a:spAutoFit/>
          </a:bodyPr>
          <a:lstStyle/>
          <a:p>
            <a:pPr>
              <a:lnSpc>
                <a:spcPts val="4000"/>
              </a:lnSpc>
              <a:spcBef>
                <a:spcPts val="0"/>
              </a:spcBef>
              <a:spcAft>
                <a:spcPts val="0"/>
              </a:spcAft>
            </a:pPr>
            <a:r>
              <a:rPr sz="3700" b="1">
                <a:solidFill>
                  <a:srgbClr val="27332C"/>
                </a:solidFill>
                <a:latin typeface="Arial"/>
              </a:rPr>
              <a:t>A clear first user.</a:t>
            </a:r>
          </a:p>
          <a:p>
            <a:pPr>
              <a:lnSpc>
                <a:spcPts val="4000"/>
              </a:lnSpc>
              <a:spcBef>
                <a:spcPts val="0"/>
              </a:spcBef>
              <a:spcAft>
                <a:spcPts val="0"/>
              </a:spcAft>
            </a:pPr>
            <a:r>
              <a:rPr sz="3700" b="1">
                <a:solidFill>
                  <a:srgbClr val="27332C"/>
                </a:solidFill>
                <a:latin typeface="Arial"/>
              </a:rPr>
              <a:t>A measurable next step.</a:t>
            </a:r>
          </a:p>
        </p:txBody>
      </p:sp>
      <p:sp>
        <p:nvSpPr>
          <p:cNvPr id="11" name="Rounded Rectangle 10"/>
          <p:cNvSpPr/>
          <p:nvPr/>
        </p:nvSpPr>
        <p:spPr>
          <a:xfrm>
            <a:off x="482600" y="2438400"/>
            <a:ext cx="5372100" cy="3073400"/>
          </a:xfrm>
          <a:prstGeom prst="roundRect">
            <a:avLst/>
          </a:prstGeom>
          <a:solidFill>
            <a:srgbClr val="2733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300" y="2679700"/>
            <a:ext cx="4826000" cy="216408"/>
          </a:xfrm>
          <a:prstGeom prst="rect">
            <a:avLst/>
          </a:prstGeom>
          <a:noFill/>
        </p:spPr>
        <p:txBody>
          <a:bodyPr wrap="none" lIns="0" rIns="0" tIns="0" bIns="0" anchor="t">
            <a:spAutoFit/>
          </a:bodyPr>
          <a:lstStyle/>
          <a:p>
            <a:pPr>
              <a:lnSpc>
                <a:spcPts val="1404"/>
              </a:lnSpc>
              <a:spcBef>
                <a:spcPts val="0"/>
              </a:spcBef>
              <a:spcAft>
                <a:spcPts val="0"/>
              </a:spcAft>
            </a:pPr>
            <a:r>
              <a:rPr sz="1200" b="1">
                <a:solidFill>
                  <a:srgbClr val="CFD6C9"/>
                </a:solidFill>
                <a:latin typeface="Arial"/>
              </a:rPr>
              <a:t>WHO USES IT</a:t>
            </a:r>
          </a:p>
        </p:txBody>
      </p:sp>
      <p:sp>
        <p:nvSpPr>
          <p:cNvPr id="13" name="TextBox 12"/>
          <p:cNvSpPr txBox="1"/>
          <p:nvPr/>
        </p:nvSpPr>
        <p:spPr>
          <a:xfrm>
            <a:off x="736600" y="3162300"/>
            <a:ext cx="4826000" cy="469011"/>
          </a:xfrm>
          <a:prstGeom prst="rect">
            <a:avLst/>
          </a:prstGeom>
          <a:noFill/>
        </p:spPr>
        <p:txBody>
          <a:bodyPr wrap="none" lIns="0" rIns="0" tIns="0" bIns="0" anchor="t">
            <a:spAutoFit/>
          </a:bodyPr>
          <a:lstStyle/>
          <a:p>
            <a:pPr>
              <a:lnSpc>
                <a:spcPts val="3393"/>
              </a:lnSpc>
              <a:spcBef>
                <a:spcPts val="0"/>
              </a:spcBef>
              <a:spcAft>
                <a:spcPts val="0"/>
              </a:spcAft>
            </a:pPr>
            <a:r>
              <a:rPr sz="2900" b="1">
                <a:solidFill>
                  <a:srgbClr val="FFFFFF"/>
                </a:solidFill>
                <a:latin typeface="Arial"/>
              </a:rPr>
              <a:t>Production planners</a:t>
            </a:r>
          </a:p>
        </p:txBody>
      </p:sp>
      <p:sp>
        <p:nvSpPr>
          <p:cNvPr id="14" name="TextBox 13"/>
          <p:cNvSpPr txBox="1"/>
          <p:nvPr/>
        </p:nvSpPr>
        <p:spPr>
          <a:xfrm>
            <a:off x="749300" y="3771900"/>
            <a:ext cx="4762500" cy="573023"/>
          </a:xfrm>
          <a:prstGeom prst="rect">
            <a:avLst/>
          </a:prstGeom>
          <a:noFill/>
        </p:spPr>
        <p:txBody>
          <a:bodyPr wrap="none" lIns="0" rIns="0" tIns="0" bIns="0" anchor="t">
            <a:spAutoFit/>
          </a:bodyPr>
          <a:lstStyle/>
          <a:p>
            <a:pPr>
              <a:lnSpc>
                <a:spcPts val="2106"/>
              </a:lnSpc>
              <a:spcBef>
                <a:spcPts val="0"/>
              </a:spcBef>
              <a:spcAft>
                <a:spcPts val="0"/>
              </a:spcAft>
            </a:pPr>
            <a:r>
              <a:rPr sz="1800" b="0">
                <a:solidFill>
                  <a:srgbClr val="FFFFFF"/>
                </a:solidFill>
                <a:latin typeface="Arial"/>
              </a:rPr>
              <a:t>Small, make-to-order machine shops</a:t>
            </a:r>
          </a:p>
          <a:p>
            <a:pPr>
              <a:lnSpc>
                <a:spcPts val="2106"/>
              </a:lnSpc>
              <a:spcBef>
                <a:spcPts val="0"/>
              </a:spcBef>
              <a:spcAft>
                <a:spcPts val="0"/>
              </a:spcAft>
            </a:pPr>
            <a:r>
              <a:rPr sz="1800" b="0">
                <a:solidFill>
                  <a:srgbClr val="FFFFFF"/>
                </a:solidFill>
                <a:latin typeface="Arial"/>
              </a:rPr>
              <a:t>handling disruption-driven replanning.</a:t>
            </a:r>
          </a:p>
        </p:txBody>
      </p:sp>
      <p:sp>
        <p:nvSpPr>
          <p:cNvPr id="15" name="TextBox 14"/>
          <p:cNvSpPr txBox="1"/>
          <p:nvPr/>
        </p:nvSpPr>
        <p:spPr>
          <a:xfrm>
            <a:off x="749300" y="4749800"/>
            <a:ext cx="4762500" cy="543306"/>
          </a:xfrm>
          <a:prstGeom prst="rect">
            <a:avLst/>
          </a:prstGeom>
          <a:noFill/>
        </p:spPr>
        <p:txBody>
          <a:bodyPr wrap="none" lIns="0" rIns="0" tIns="0" bIns="0" anchor="t">
            <a:spAutoFit/>
          </a:bodyPr>
          <a:lstStyle/>
          <a:p>
            <a:pPr>
              <a:lnSpc>
                <a:spcPts val="1989"/>
              </a:lnSpc>
              <a:spcBef>
                <a:spcPts val="0"/>
              </a:spcBef>
              <a:spcAft>
                <a:spcPts val="0"/>
              </a:spcAft>
            </a:pPr>
            <a:r>
              <a:rPr sz="1700" b="0">
                <a:solidFill>
                  <a:srgbClr val="CFD6C9"/>
                </a:solidFill>
                <a:latin typeface="Arial"/>
              </a:rPr>
              <a:t>The aim: faster, clearer recovery decisions</a:t>
            </a:r>
          </a:p>
          <a:p>
            <a:pPr>
              <a:lnSpc>
                <a:spcPts val="1989"/>
              </a:lnSpc>
              <a:spcBef>
                <a:spcPts val="0"/>
              </a:spcBef>
              <a:spcAft>
                <a:spcPts val="0"/>
              </a:spcAft>
            </a:pPr>
            <a:r>
              <a:rPr sz="1700" b="0">
                <a:solidFill>
                  <a:srgbClr val="CFD6C9"/>
                </a:solidFill>
                <a:latin typeface="Arial"/>
              </a:rPr>
              <a:t>with an auditable handoff.</a:t>
            </a:r>
          </a:p>
        </p:txBody>
      </p:sp>
      <p:sp>
        <p:nvSpPr>
          <p:cNvPr id="16" name="TextBox 15"/>
          <p:cNvSpPr txBox="1"/>
          <p:nvPr/>
        </p:nvSpPr>
        <p:spPr>
          <a:xfrm>
            <a:off x="6261100" y="2578100"/>
            <a:ext cx="5232400" cy="216408"/>
          </a:xfrm>
          <a:prstGeom prst="rect">
            <a:avLst/>
          </a:prstGeom>
          <a:noFill/>
        </p:spPr>
        <p:txBody>
          <a:bodyPr wrap="none" lIns="0" rIns="0" tIns="0" bIns="0" anchor="t">
            <a:spAutoFit/>
          </a:bodyPr>
          <a:lstStyle/>
          <a:p>
            <a:pPr>
              <a:lnSpc>
                <a:spcPts val="1404"/>
              </a:lnSpc>
              <a:spcBef>
                <a:spcPts val="0"/>
              </a:spcBef>
              <a:spcAft>
                <a:spcPts val="0"/>
              </a:spcAft>
            </a:pPr>
            <a:r>
              <a:rPr sz="1200" b="1">
                <a:solidFill>
                  <a:srgbClr val="647064"/>
                </a:solidFill>
                <a:latin typeface="Arial"/>
              </a:rPr>
              <a:t>SHADOW PILOT</a:t>
            </a:r>
          </a:p>
        </p:txBody>
      </p:sp>
      <p:sp>
        <p:nvSpPr>
          <p:cNvPr id="17" name="TextBox 16"/>
          <p:cNvSpPr txBox="1"/>
          <p:nvPr/>
        </p:nvSpPr>
        <p:spPr>
          <a:xfrm>
            <a:off x="6261100" y="3009900"/>
            <a:ext cx="5270500" cy="320420"/>
          </a:xfrm>
          <a:prstGeom prst="rect">
            <a:avLst/>
          </a:prstGeom>
          <a:noFill/>
        </p:spPr>
        <p:txBody>
          <a:bodyPr wrap="none" lIns="0" rIns="0" tIns="0" bIns="0" anchor="t">
            <a:spAutoFit/>
          </a:bodyPr>
          <a:lstStyle/>
          <a:p>
            <a:pPr>
              <a:lnSpc>
                <a:spcPts val="2222"/>
              </a:lnSpc>
              <a:spcBef>
                <a:spcPts val="0"/>
              </a:spcBef>
              <a:spcAft>
                <a:spcPts val="0"/>
              </a:spcAft>
            </a:pPr>
            <a:r>
              <a:rPr sz="1900" b="1">
                <a:solidFill>
                  <a:srgbClr val="27332C"/>
                </a:solidFill>
                <a:latin typeface="Arial"/>
              </a:rPr>
              <a:t>Use real historical disruptions</a:t>
            </a:r>
          </a:p>
        </p:txBody>
      </p:sp>
      <p:sp>
        <p:nvSpPr>
          <p:cNvPr id="18" name="TextBox 17"/>
          <p:cNvSpPr txBox="1"/>
          <p:nvPr/>
        </p:nvSpPr>
        <p:spPr>
          <a:xfrm>
            <a:off x="6261100" y="3365500"/>
            <a:ext cx="5270500" cy="246126"/>
          </a:xfrm>
          <a:prstGeom prst="rect">
            <a:avLst/>
          </a:prstGeom>
          <a:noFill/>
        </p:spPr>
        <p:txBody>
          <a:bodyPr wrap="none" lIns="0" rIns="0" tIns="0" bIns="0" anchor="t">
            <a:spAutoFit/>
          </a:bodyPr>
          <a:lstStyle/>
          <a:p>
            <a:pPr>
              <a:lnSpc>
                <a:spcPts val="1638"/>
              </a:lnSpc>
              <a:spcBef>
                <a:spcPts val="0"/>
              </a:spcBef>
              <a:spcAft>
                <a:spcPts val="0"/>
              </a:spcAft>
            </a:pPr>
            <a:r>
              <a:rPr sz="1400" b="0">
                <a:solidFill>
                  <a:srgbClr val="647064"/>
                </a:solidFill>
                <a:latin typeface="Arial"/>
              </a:rPr>
              <a:t>Replay cases alongside a planner’s current workflow.</a:t>
            </a:r>
          </a:p>
        </p:txBody>
      </p:sp>
      <p:sp>
        <p:nvSpPr>
          <p:cNvPr id="19" name="TextBox 18"/>
          <p:cNvSpPr txBox="1"/>
          <p:nvPr/>
        </p:nvSpPr>
        <p:spPr>
          <a:xfrm>
            <a:off x="6261100" y="3937000"/>
            <a:ext cx="5270500" cy="320420"/>
          </a:xfrm>
          <a:prstGeom prst="rect">
            <a:avLst/>
          </a:prstGeom>
          <a:noFill/>
        </p:spPr>
        <p:txBody>
          <a:bodyPr wrap="none" lIns="0" rIns="0" tIns="0" bIns="0" anchor="t">
            <a:spAutoFit/>
          </a:bodyPr>
          <a:lstStyle/>
          <a:p>
            <a:pPr>
              <a:lnSpc>
                <a:spcPts val="2222"/>
              </a:lnSpc>
              <a:spcBef>
                <a:spcPts val="0"/>
              </a:spcBef>
              <a:spcAft>
                <a:spcPts val="0"/>
              </a:spcAft>
            </a:pPr>
            <a:r>
              <a:rPr sz="1900" b="1">
                <a:solidFill>
                  <a:srgbClr val="27332C"/>
                </a:solidFill>
                <a:latin typeface="Arial"/>
              </a:rPr>
              <a:t>Measure the decision</a:t>
            </a:r>
          </a:p>
        </p:txBody>
      </p:sp>
      <p:sp>
        <p:nvSpPr>
          <p:cNvPr id="20" name="TextBox 19"/>
          <p:cNvSpPr txBox="1"/>
          <p:nvPr/>
        </p:nvSpPr>
        <p:spPr>
          <a:xfrm>
            <a:off x="6261100" y="4292600"/>
            <a:ext cx="5270500" cy="454152"/>
          </a:xfrm>
          <a:prstGeom prst="rect">
            <a:avLst/>
          </a:prstGeom>
          <a:noFill/>
        </p:spPr>
        <p:txBody>
          <a:bodyPr wrap="none" lIns="0" rIns="0" tIns="0" bIns="0" anchor="t">
            <a:spAutoFit/>
          </a:bodyPr>
          <a:lstStyle/>
          <a:p>
            <a:pPr>
              <a:lnSpc>
                <a:spcPts val="1638"/>
              </a:lnSpc>
              <a:spcBef>
                <a:spcPts val="0"/>
              </a:spcBef>
              <a:spcAft>
                <a:spcPts val="0"/>
              </a:spcAft>
            </a:pPr>
            <a:r>
              <a:rPr sz="1400" b="0">
                <a:solidFill>
                  <a:srgbClr val="647064"/>
                </a:solidFill>
                <a:latin typeface="Arial"/>
              </a:rPr>
              <a:t>Time to a correct approved plan; missed commitments and wrong</a:t>
            </a:r>
          </a:p>
          <a:p>
            <a:pPr>
              <a:lnSpc>
                <a:spcPts val="1638"/>
              </a:lnSpc>
              <a:spcBef>
                <a:spcPts val="0"/>
              </a:spcBef>
              <a:spcAft>
                <a:spcPts val="0"/>
              </a:spcAft>
            </a:pPr>
            <a:r>
              <a:rPr sz="1400" b="0">
                <a:solidFill>
                  <a:srgbClr val="647064"/>
                </a:solidFill>
                <a:latin typeface="Arial"/>
              </a:rPr>
              <a:t>accepted changes.</a:t>
            </a:r>
          </a:p>
        </p:txBody>
      </p:sp>
      <p:sp>
        <p:nvSpPr>
          <p:cNvPr id="21" name="TextBox 20"/>
          <p:cNvSpPr txBox="1"/>
          <p:nvPr/>
        </p:nvSpPr>
        <p:spPr>
          <a:xfrm>
            <a:off x="6261100" y="4864100"/>
            <a:ext cx="5270500" cy="320420"/>
          </a:xfrm>
          <a:prstGeom prst="rect">
            <a:avLst/>
          </a:prstGeom>
          <a:noFill/>
        </p:spPr>
        <p:txBody>
          <a:bodyPr wrap="none" lIns="0" rIns="0" tIns="0" bIns="0" anchor="t">
            <a:spAutoFit/>
          </a:bodyPr>
          <a:lstStyle/>
          <a:p>
            <a:pPr>
              <a:lnSpc>
                <a:spcPts val="2222"/>
              </a:lnSpc>
              <a:spcBef>
                <a:spcPts val="0"/>
              </a:spcBef>
              <a:spcAft>
                <a:spcPts val="0"/>
              </a:spcAft>
            </a:pPr>
            <a:r>
              <a:rPr sz="1900" b="1">
                <a:solidFill>
                  <a:srgbClr val="27332C"/>
                </a:solidFill>
                <a:latin typeface="Arial"/>
              </a:rPr>
              <a:t>Start with the handoff</a:t>
            </a:r>
          </a:p>
        </p:txBody>
      </p:sp>
      <p:sp>
        <p:nvSpPr>
          <p:cNvPr id="22" name="TextBox 21"/>
          <p:cNvSpPr txBox="1"/>
          <p:nvPr/>
        </p:nvSpPr>
        <p:spPr>
          <a:xfrm>
            <a:off x="6261100" y="5219700"/>
            <a:ext cx="5270500" cy="246126"/>
          </a:xfrm>
          <a:prstGeom prst="rect">
            <a:avLst/>
          </a:prstGeom>
          <a:noFill/>
        </p:spPr>
        <p:txBody>
          <a:bodyPr wrap="none" lIns="0" rIns="0" tIns="0" bIns="0" anchor="t">
            <a:spAutoFit/>
          </a:bodyPr>
          <a:lstStyle/>
          <a:p>
            <a:pPr>
              <a:lnSpc>
                <a:spcPts val="1638"/>
              </a:lnSpc>
              <a:spcBef>
                <a:spcPts val="0"/>
              </a:spcBef>
              <a:spcAft>
                <a:spcPts val="0"/>
              </a:spcAft>
            </a:pPr>
            <a:r>
              <a:rPr sz="1400" b="0">
                <a:solidFill>
                  <a:srgbClr val="647064"/>
                </a:solidFill>
                <a:latin typeface="Arial"/>
              </a:rPr>
              <a:t>Validate CSV exports before connecting factory systems.</a:t>
            </a:r>
          </a:p>
        </p:txBody>
      </p:sp>
      <p:sp>
        <p:nvSpPr>
          <p:cNvPr id="23" name="TextBox 22"/>
          <p:cNvSpPr txBox="1"/>
          <p:nvPr/>
        </p:nvSpPr>
        <p:spPr>
          <a:xfrm>
            <a:off x="508000" y="5892800"/>
            <a:ext cx="11176000" cy="216408"/>
          </a:xfrm>
          <a:prstGeom prst="rect">
            <a:avLst/>
          </a:prstGeom>
          <a:noFill/>
        </p:spPr>
        <p:txBody>
          <a:bodyPr wrap="none" lIns="0" rIns="0" tIns="0" bIns="0" anchor="t">
            <a:spAutoFit/>
          </a:bodyPr>
          <a:lstStyle/>
          <a:p>
            <a:pPr>
              <a:lnSpc>
                <a:spcPts val="1404"/>
              </a:lnSpc>
              <a:spcBef>
                <a:spcPts val="0"/>
              </a:spcBef>
              <a:spcAft>
                <a:spcPts val="0"/>
              </a:spcAft>
            </a:pPr>
            <a:r>
              <a:rPr sz="1200" b="0">
                <a:solidFill>
                  <a:srgbClr val="647064"/>
                </a:solidFill>
                <a:latin typeface="Arial"/>
              </a:rPr>
              <a:t>Current limits: synthetic data · one-day fixture · no ERP integration · no validated ROI</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27332C"/>
        </a:solidFill>
        <a:effectLst/>
      </p:bgPr>
    </p:bg>
    <p:spTree>
      <p:nvGrpSpPr>
        <p:cNvPr id="1" name=""/>
        <p:cNvGrpSpPr/>
        <p:nvPr/>
      </p:nvGrpSpPr>
      <p:grpSpPr/>
      <p:sp>
        <p:nvSpPr>
          <p:cNvPr id="2" name="Rectangle 1"/>
          <p:cNvSpPr/>
          <p:nvPr/>
        </p:nvSpPr>
        <p:spPr>
          <a:xfrm>
            <a:off x="482600" y="508000"/>
            <a:ext cx="50800" cy="152400"/>
          </a:xfrm>
          <a:prstGeom prst="rect">
            <a:avLst/>
          </a:prstGeom>
          <a:solidFill>
            <a:srgbClr val="D45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71500" y="406400"/>
            <a:ext cx="50800" cy="254000"/>
          </a:xfrm>
          <a:prstGeom prst="rect">
            <a:avLst/>
          </a:prstGeom>
          <a:solidFill>
            <a:srgbClr val="D45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60400" y="317500"/>
            <a:ext cx="50800" cy="342900"/>
          </a:xfrm>
          <a:prstGeom prst="rect">
            <a:avLst/>
          </a:prstGeom>
          <a:solidFill>
            <a:srgbClr val="D45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3600" y="368300"/>
            <a:ext cx="2286000" cy="216408"/>
          </a:xfrm>
          <a:prstGeom prst="rect">
            <a:avLst/>
          </a:prstGeom>
          <a:noFill/>
        </p:spPr>
        <p:txBody>
          <a:bodyPr wrap="none" lIns="0" rIns="0" tIns="0" bIns="0" anchor="t">
            <a:spAutoFit/>
          </a:bodyPr>
          <a:lstStyle/>
          <a:p>
            <a:pPr>
              <a:lnSpc>
                <a:spcPts val="1404"/>
              </a:lnSpc>
              <a:spcBef>
                <a:spcPts val="0"/>
              </a:spcBef>
              <a:spcAft>
                <a:spcPts val="0"/>
              </a:spcAft>
            </a:pPr>
            <a:r>
              <a:rPr sz="1200" b="1">
                <a:solidFill>
                  <a:srgbClr val="FFFFFF"/>
                </a:solidFill>
                <a:latin typeface="Arial"/>
              </a:rPr>
              <a:t>REHEARSAL</a:t>
            </a:r>
          </a:p>
        </p:txBody>
      </p:sp>
      <p:sp>
        <p:nvSpPr>
          <p:cNvPr id="6" name="TextBox 5"/>
          <p:cNvSpPr txBox="1"/>
          <p:nvPr/>
        </p:nvSpPr>
        <p:spPr>
          <a:xfrm>
            <a:off x="5334000" y="381000"/>
            <a:ext cx="6223000" cy="186690"/>
          </a:xfrm>
          <a:prstGeom prst="rect">
            <a:avLst/>
          </a:prstGeom>
          <a:noFill/>
        </p:spPr>
        <p:txBody>
          <a:bodyPr wrap="none" lIns="0" rIns="0" tIns="0" bIns="0" anchor="t">
            <a:spAutoFit/>
          </a:bodyPr>
          <a:lstStyle/>
          <a:p>
            <a:pPr>
              <a:lnSpc>
                <a:spcPts val="1170"/>
              </a:lnSpc>
              <a:spcBef>
                <a:spcPts val="0"/>
              </a:spcBef>
              <a:spcAft>
                <a:spcPts val="0"/>
              </a:spcAft>
            </a:pPr>
            <a:r>
              <a:rPr sz="1000" b="0">
                <a:solidFill>
                  <a:srgbClr val="CFD6C9"/>
                </a:solidFill>
                <a:latin typeface="Arial"/>
              </a:rPr>
              <a:t>FORGE AHEAD</a:t>
            </a:r>
          </a:p>
        </p:txBody>
      </p:sp>
      <p:sp>
        <p:nvSpPr>
          <p:cNvPr id="7" name="TextBox 6"/>
          <p:cNvSpPr txBox="1"/>
          <p:nvPr/>
        </p:nvSpPr>
        <p:spPr>
          <a:xfrm>
            <a:off x="482600" y="6515100"/>
            <a:ext cx="7620000" cy="156972"/>
          </a:xfrm>
          <a:prstGeom prst="rect">
            <a:avLst/>
          </a:prstGeom>
          <a:noFill/>
        </p:spPr>
        <p:txBody>
          <a:bodyPr wrap="none" lIns="0" rIns="0" tIns="0" bIns="0" anchor="t">
            <a:spAutoFit/>
          </a:bodyPr>
          <a:lstStyle/>
          <a:p>
            <a:pPr>
              <a:lnSpc>
                <a:spcPts val="936"/>
              </a:lnSpc>
              <a:spcBef>
                <a:spcPts val="0"/>
              </a:spcBef>
              <a:spcAft>
                <a:spcPts val="0"/>
              </a:spcAft>
            </a:pPr>
            <a:r>
              <a:rPr sz="800" b="0">
                <a:solidFill>
                  <a:srgbClr val="BFC8B9"/>
                </a:solidFill>
                <a:latin typeface="Arial"/>
              </a:rPr>
              <a:t>FORGE AHEAD / AMD DEVELOPER HACKATHON: ACT III</a:t>
            </a:r>
          </a:p>
        </p:txBody>
      </p:sp>
      <p:sp>
        <p:nvSpPr>
          <p:cNvPr id="8" name="TextBox 7"/>
          <p:cNvSpPr txBox="1"/>
          <p:nvPr/>
        </p:nvSpPr>
        <p:spPr>
          <a:xfrm>
            <a:off x="11353800" y="6489700"/>
            <a:ext cx="381000" cy="186690"/>
          </a:xfrm>
          <a:prstGeom prst="rect">
            <a:avLst/>
          </a:prstGeom>
          <a:noFill/>
        </p:spPr>
        <p:txBody>
          <a:bodyPr wrap="none" lIns="0" rIns="0" tIns="0" bIns="0" anchor="t">
            <a:spAutoFit/>
          </a:bodyPr>
          <a:lstStyle/>
          <a:p>
            <a:pPr>
              <a:lnSpc>
                <a:spcPts val="1170"/>
              </a:lnSpc>
              <a:spcBef>
                <a:spcPts val="0"/>
              </a:spcBef>
              <a:spcAft>
                <a:spcPts val="0"/>
              </a:spcAft>
            </a:pPr>
            <a:r>
              <a:rPr sz="1000" b="0">
                <a:solidFill>
                  <a:srgbClr val="BFC8B9"/>
                </a:solidFill>
                <a:latin typeface="Arial"/>
              </a:rPr>
              <a:t>10</a:t>
            </a:r>
          </a:p>
        </p:txBody>
      </p:sp>
      <p:sp>
        <p:nvSpPr>
          <p:cNvPr id="9" name="TextBox 8"/>
          <p:cNvSpPr txBox="1"/>
          <p:nvPr/>
        </p:nvSpPr>
        <p:spPr>
          <a:xfrm>
            <a:off x="495299" y="1358900"/>
            <a:ext cx="11049000" cy="1714500"/>
          </a:xfrm>
          <a:prstGeom prst="rect">
            <a:avLst/>
          </a:prstGeom>
          <a:noFill/>
        </p:spPr>
        <p:txBody>
          <a:bodyPr wrap="none" lIns="0" rIns="0" tIns="0" bIns="0" anchor="t">
            <a:spAutoFit/>
          </a:bodyPr>
          <a:lstStyle/>
          <a:p>
            <a:pPr>
              <a:lnSpc>
                <a:spcPts val="6600"/>
              </a:lnSpc>
              <a:spcBef>
                <a:spcPts val="0"/>
              </a:spcBef>
              <a:spcAft>
                <a:spcPts val="0"/>
              </a:spcAft>
            </a:pPr>
            <a:r>
              <a:rPr sz="5800" b="1">
                <a:solidFill>
                  <a:srgbClr val="FFFFFF"/>
                </a:solidFill>
                <a:latin typeface="Arial"/>
              </a:rPr>
              <a:t>Rehearse before</a:t>
            </a:r>
          </a:p>
          <a:p>
            <a:pPr>
              <a:lnSpc>
                <a:spcPts val="6600"/>
              </a:lnSpc>
              <a:spcBef>
                <a:spcPts val="0"/>
              </a:spcBef>
              <a:spcAft>
                <a:spcPts val="0"/>
              </a:spcAft>
            </a:pPr>
            <a:r>
              <a:rPr sz="5800" b="1">
                <a:solidFill>
                  <a:srgbClr val="FFFFFF"/>
                </a:solidFill>
                <a:latin typeface="Arial"/>
              </a:rPr>
              <a:t>you commit.</a:t>
            </a:r>
          </a:p>
        </p:txBody>
      </p:sp>
      <p:sp>
        <p:nvSpPr>
          <p:cNvPr id="10" name="TextBox 9"/>
          <p:cNvSpPr txBox="1"/>
          <p:nvPr/>
        </p:nvSpPr>
        <p:spPr>
          <a:xfrm>
            <a:off x="533400" y="3429000"/>
            <a:ext cx="10795000" cy="379856"/>
          </a:xfrm>
          <a:prstGeom prst="rect">
            <a:avLst/>
          </a:prstGeom>
          <a:noFill/>
        </p:spPr>
        <p:txBody>
          <a:bodyPr wrap="none" lIns="0" rIns="0" tIns="0" bIns="0" anchor="t">
            <a:spAutoFit/>
          </a:bodyPr>
          <a:lstStyle/>
          <a:p>
            <a:pPr>
              <a:lnSpc>
                <a:spcPts val="2690"/>
              </a:lnSpc>
              <a:spcBef>
                <a:spcPts val="0"/>
              </a:spcBef>
              <a:spcAft>
                <a:spcPts val="0"/>
              </a:spcAft>
            </a:pPr>
            <a:r>
              <a:rPr sz="2300" b="0">
                <a:solidFill>
                  <a:srgbClr val="CFD6C9"/>
                </a:solidFill>
                <a:latin typeface="Arial"/>
              </a:rPr>
              <a:t>Abhishek Sharma + Muskan Verma</a:t>
            </a:r>
          </a:p>
        </p:txBody>
      </p:sp>
      <p:sp>
        <p:nvSpPr>
          <p:cNvPr id="11" name="TextBox 10"/>
          <p:cNvSpPr txBox="1"/>
          <p:nvPr/>
        </p:nvSpPr>
        <p:spPr>
          <a:xfrm>
            <a:off x="533400" y="3975100"/>
            <a:ext cx="11049000" cy="275844"/>
          </a:xfrm>
          <a:prstGeom prst="rect">
            <a:avLst/>
          </a:prstGeom>
          <a:noFill/>
        </p:spPr>
        <p:txBody>
          <a:bodyPr wrap="none" lIns="0" rIns="0" tIns="0" bIns="0" anchor="t">
            <a:spAutoFit/>
          </a:bodyPr>
          <a:lstStyle/>
          <a:p>
            <a:pPr>
              <a:lnSpc>
                <a:spcPts val="1872"/>
              </a:lnSpc>
              <a:spcBef>
                <a:spcPts val="0"/>
              </a:spcBef>
              <a:spcAft>
                <a:spcPts val="0"/>
              </a:spcAft>
            </a:pPr>
            <a:r>
              <a:rPr sz="1600" b="0">
                <a:solidFill>
                  <a:srgbClr val="CFD6C9"/>
                </a:solidFill>
                <a:latin typeface="Arial"/>
              </a:rPr>
              <a:t>Intelligent Industry / AMD Developer Hackathon: ACT III</a:t>
            </a:r>
          </a:p>
        </p:txBody>
      </p:sp>
      <p:sp>
        <p:nvSpPr>
          <p:cNvPr id="12" name="Rounded Rectangle 11"/>
          <p:cNvSpPr/>
          <p:nvPr/>
        </p:nvSpPr>
        <p:spPr>
          <a:xfrm>
            <a:off x="508000" y="4749800"/>
            <a:ext cx="5372100" cy="838200"/>
          </a:xfrm>
          <a:prstGeom prst="roundRect">
            <a:avLst/>
          </a:prstGeom>
          <a:solidFill>
            <a:srgbClr val="D45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2000" y="5016500"/>
            <a:ext cx="4876800" cy="320420"/>
          </a:xfrm>
          <a:prstGeom prst="rect">
            <a:avLst/>
          </a:prstGeom>
          <a:noFill/>
        </p:spPr>
        <p:txBody>
          <a:bodyPr wrap="none" lIns="0" rIns="0" tIns="0" bIns="0" anchor="t">
            <a:spAutoFit/>
          </a:bodyPr>
          <a:lstStyle/>
          <a:p>
            <a:pPr>
              <a:lnSpc>
                <a:spcPts val="2222"/>
              </a:lnSpc>
              <a:spcBef>
                <a:spcPts val="0"/>
              </a:spcBef>
              <a:spcAft>
                <a:spcPts val="0"/>
              </a:spcAft>
            </a:pPr>
            <a:r>
              <a:rPr sz="1900" b="1">
                <a:solidFill>
                  <a:srgbClr val="FFFFFF"/>
                </a:solidFill>
                <a:latin typeface="Arial"/>
                <a:hlinkClick r:id="rId2"/>
              </a:rPr>
              <a:t>OPEN THE LIVE APP</a:t>
            </a:r>
          </a:p>
        </p:txBody>
      </p:sp>
      <p:sp>
        <p:nvSpPr>
          <p:cNvPr id="14" name="Rounded Rectangle 13"/>
          <p:cNvSpPr/>
          <p:nvPr/>
        </p:nvSpPr>
        <p:spPr>
          <a:xfrm>
            <a:off x="6146800" y="4749800"/>
            <a:ext cx="5562600" cy="838200"/>
          </a:xfrm>
          <a:prstGeom prst="roundRect">
            <a:avLst/>
          </a:prstGeom>
          <a:solidFill>
            <a:srgbClr val="3C49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5016500"/>
            <a:ext cx="5080000" cy="320420"/>
          </a:xfrm>
          <a:prstGeom prst="rect">
            <a:avLst/>
          </a:prstGeom>
          <a:noFill/>
        </p:spPr>
        <p:txBody>
          <a:bodyPr wrap="none" lIns="0" rIns="0" tIns="0" bIns="0" anchor="t">
            <a:spAutoFit/>
          </a:bodyPr>
          <a:lstStyle/>
          <a:p>
            <a:pPr>
              <a:lnSpc>
                <a:spcPts val="2222"/>
              </a:lnSpc>
              <a:spcBef>
                <a:spcPts val="0"/>
              </a:spcBef>
              <a:spcAft>
                <a:spcPts val="0"/>
              </a:spcAft>
            </a:pPr>
            <a:r>
              <a:rPr sz="1900" b="1">
                <a:solidFill>
                  <a:srgbClr val="FFFFFF"/>
                </a:solidFill>
                <a:latin typeface="Arial"/>
                <a:hlinkClick r:id="rId3"/>
              </a:rPr>
              <a:t>VIEW CODE + EVIDENCE</a:t>
            </a:r>
          </a:p>
        </p:txBody>
      </p:sp>
      <p:sp>
        <p:nvSpPr>
          <p:cNvPr id="16" name="TextBox 15"/>
          <p:cNvSpPr txBox="1"/>
          <p:nvPr/>
        </p:nvSpPr>
        <p:spPr>
          <a:xfrm>
            <a:off x="533400" y="5867400"/>
            <a:ext cx="10795000" cy="275844"/>
          </a:xfrm>
          <a:prstGeom prst="rect">
            <a:avLst/>
          </a:prstGeom>
          <a:noFill/>
        </p:spPr>
        <p:txBody>
          <a:bodyPr wrap="none" lIns="0" rIns="0" tIns="0" bIns="0" anchor="t">
            <a:spAutoFit/>
          </a:bodyPr>
          <a:lstStyle/>
          <a:p>
            <a:pPr>
              <a:lnSpc>
                <a:spcPts val="1872"/>
              </a:lnSpc>
              <a:spcBef>
                <a:spcPts val="0"/>
              </a:spcBef>
              <a:spcAft>
                <a:spcPts val="0"/>
              </a:spcAft>
            </a:pPr>
            <a:r>
              <a:rPr sz="1600" b="0">
                <a:solidFill>
                  <a:srgbClr val="CFD6C9"/>
                </a:solidFill>
                <a:latin typeface="Arial"/>
                <a:hlinkClick r:id="rId3"/>
              </a:rPr>
              <a:t>github.com/AbhishekSharma55/amd-act-3</a:t>
            </a:r>
          </a:p>
        </p:txBody>
      </p:sp>
      <p:sp>
        <p:nvSpPr>
          <p:cNvPr id="17" name="TextBox 16"/>
          <p:cNvSpPr txBox="1"/>
          <p:nvPr/>
        </p:nvSpPr>
        <p:spPr>
          <a:xfrm>
            <a:off x="533400" y="6197600"/>
            <a:ext cx="10795000" cy="231267"/>
          </a:xfrm>
          <a:prstGeom prst="rect">
            <a:avLst/>
          </a:prstGeom>
          <a:noFill/>
        </p:spPr>
        <p:txBody>
          <a:bodyPr wrap="none" lIns="0" rIns="0" tIns="0" bIns="0" anchor="t">
            <a:spAutoFit/>
          </a:bodyPr>
          <a:lstStyle/>
          <a:p>
            <a:pPr>
              <a:lnSpc>
                <a:spcPts val="1521"/>
              </a:lnSpc>
              <a:spcBef>
                <a:spcPts val="0"/>
              </a:spcBef>
              <a:spcAft>
                <a:spcPts val="0"/>
              </a:spcAft>
            </a:pPr>
            <a:r>
              <a:rPr sz="1300" b="1">
                <a:solidFill>
                  <a:srgbClr val="CFD6C9"/>
                </a:solidFill>
                <a:latin typeface="Arial"/>
                <a:hlinkClick r:id="rId4"/>
              </a:rPr>
              <a:t>WATCH THE DEMO / youtu.be/XCLzMpVXXHU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Rehearsal | Forge Ahead | AMD ACT III</dc:title>
  <dc:subject>Test a factory recovery plan before changing the shift</dc:subject>
  <dc:creator>Abhishek Sharma and Muskan Verma</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